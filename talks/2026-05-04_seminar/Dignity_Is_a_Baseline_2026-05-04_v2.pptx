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[~20s]</a:t>
            </a:r>
          </a:p>
          <a:p/>
          <a:p>
            <a:r>
              <a:t>Good afternoon. The thirty-second version: workers exposed to automation are</a:t>
            </a:r>
          </a:p>
          <a:p>
            <a:r>
              <a:t>more anti-immigration than their material interests would predict. The gap is</a:t>
            </a:r>
          </a:p>
          <a:p>
            <a:r>
              <a:t>bigger in some welfare states than others. The conventional explanation —</a:t>
            </a:r>
          </a:p>
          <a:p>
            <a:r>
              <a:t>welfare buffers the backlash — is wrong about the mechanism. The mechanism is</a:t>
            </a:r>
          </a:p>
          <a:p>
            <a:r>
              <a:t>asymmetric. I'll show you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[~75s]</a:t>
            </a:r>
          </a:p>
          <a:p/>
          <a:p>
            <a:r>
              <a:t>Two things are well documented. RTI workers vote radical right disproportionately.</a:t>
            </a:r>
          </a:p>
          <a:p>
            <a:r>
              <a:t>And the pattern varies across welfare states.</a:t>
            </a:r>
          </a:p>
          <a:p/>
          <a:p>
            <a:r>
              <a:t>The dominant explanation: welfare buffers the backlash. Quantity-based.</a:t>
            </a:r>
          </a:p>
          <a:p>
            <a:r>
              <a:t>Compensation as cushion.</a:t>
            </a:r>
          </a:p>
          <a:p/>
          <a:p>
            <a:r>
              <a:t>I'll argue today this account is missing the mechanism. Not wrong that welfare</a:t>
            </a:r>
          </a:p>
          <a:p>
            <a:r>
              <a:t>matters; wrong about how. The dimension that matters is what welfare</a:t>
            </a:r>
          </a:p>
          <a:p>
            <a:r>
              <a:t>communicates, not what it spends.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[~75s]</a:t>
            </a:r>
          </a:p>
          <a:p/>
          <a:p>
            <a:r>
              <a:t>Buffering rests on Ruggie. Compensation as quantity. Symmetric mechanism.</a:t>
            </a:r>
          </a:p>
          <a:p/>
          <a:p>
            <a:r>
              <a:t>Three streams of evidence push back. Gingrich's cross-national: generous welfare</a:t>
            </a:r>
          </a:p>
          <a:p>
            <a:r>
              <a:t>states don't show weaker automation-to-populism effects. Stutzmann on the German</a:t>
            </a:r>
          </a:p>
          <a:p>
            <a:r>
              <a:t>coal phase-out: compensated communities had higher abstention. Pelc: workers</a:t>
            </a:r>
          </a:p>
          <a:p>
            <a:r>
              <a:t>refuse compensation even when it fully replaces income.</a:t>
            </a:r>
          </a:p>
          <a:p/>
          <a:p>
            <a:r>
              <a:t>Three different designs, same direction. Material compensation is doing less</a:t>
            </a:r>
          </a:p>
          <a:p>
            <a:r>
              <a:t>of the political work than the buffering model assumes.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[~60s]</a:t>
            </a:r>
          </a:p>
          <a:p/>
          <a:p>
            <a:r>
              <a:t>The recognition literature has been pointing at this for a decade.</a:t>
            </a:r>
          </a:p>
          <a:p/>
          <a:p>
            <a:r>
              <a:t>Kurer: traditional welfare may be insufficient when relative decline drives</a:t>
            </a:r>
          </a:p>
          <a:p>
            <a:r>
              <a:t>resentment. Kurer-Palier: the appeal is to dignity, not just protection. Gidron</a:t>
            </a:r>
          </a:p>
          <a:p>
            <a:r>
              <a:t>and Hall: voters care as much about recognition as about redistribution.</a:t>
            </a:r>
          </a:p>
          <a:p/>
          <a:p>
            <a:r>
              <a:t>The pattern: redistribution and recognition aren't fungible. The buffering</a:t>
            </a:r>
          </a:p>
          <a:p>
            <a:r>
              <a:t>framework treats them as if they were. They aren't.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[~75s — central slide]</a:t>
            </a:r>
          </a:p>
          <a:p/>
          <a:p>
            <a:r>
              <a:t>Welfare's political effects are asymmetric.</a:t>
            </a:r>
          </a:p>
          <a:p/>
          <a:p>
            <a:r>
              <a:t>The literature has documented three psychological mechanisms separately. I argue</a:t>
            </a:r>
          </a:p>
          <a:p>
            <a:r>
              <a:t>welfare design is the institutional condition that makes these mechanisms more</a:t>
            </a:r>
          </a:p>
          <a:p>
            <a:r>
              <a:t>or less likely to engage. I'm not demonstrating the full chain empirically;</a:t>
            </a:r>
          </a:p>
          <a:p>
            <a:r>
              <a:t>each step is independently documented, the institutional conditioning is my</a:t>
            </a:r>
          </a:p>
          <a:p>
            <a:r>
              <a:t>theoretical claim.</a:t>
            </a:r>
          </a:p>
          <a:p/>
          <a:p>
            <a:r>
              <a:t>The asymmetric piece: there's no mirror-image mechanism. Dignity-preserving</a:t>
            </a:r>
          </a:p>
          <a:p>
            <a:r>
              <a:t>welfare clears space for solidarity but doesn't produce it. Solidarity requires</a:t>
            </a:r>
          </a:p>
          <a:p>
            <a:r>
              <a:t>political construction welfare design alone can't supply.</a:t>
            </a:r>
          </a:p>
          <a:p/>
          <a:p>
            <a:r>
              <a:t>That last sentence is the title in compressed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 — honesty slide, important]</a:t>
            </a:r>
          </a:p>
          <a:p/>
          <a:p>
            <a:r>
              <a:t>I want to be careful here. Each step in the chain has its own literature. Soss</a:t>
            </a:r>
          </a:p>
          <a:p>
            <a:r>
              <a:t>on welfare implementation. Bonomi et al on identity switching. Ballard-Rosa on</a:t>
            </a:r>
          </a:p>
          <a:p>
            <a:r>
              <a:t>cultural identity to authoritarian values. Alesina-Angeletos on conditional</a:t>
            </a:r>
          </a:p>
          <a:p>
            <a:r>
              <a:t>attribution.</a:t>
            </a:r>
          </a:p>
          <a:p/>
          <a:p>
            <a:r>
              <a:t>What's mine is the synthesis: that these mechanisms are connected, that welfare</a:t>
            </a:r>
          </a:p>
          <a:p>
            <a:r>
              <a:t>design is the institutional condition under which they engage together, that no</a:t>
            </a:r>
          </a:p>
          <a:p>
            <a:r>
              <a:t>symmetric protective mechanism exists with comparable evidence.</a:t>
            </a:r>
          </a:p>
          <a:p/>
          <a:p>
            <a:r>
              <a:t>The cross-national correlation is consistent with this argument. The within-</a:t>
            </a:r>
          </a:p>
          <a:p>
            <a:r>
              <a:t>individual test belongs to the thesis. I'm not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[~75s]</a:t>
            </a:r>
          </a:p>
          <a:p/>
          <a:p>
            <a:r>
              <a:t>Three reasons the mechanism runs only one way.</a:t>
            </a:r>
          </a:p>
          <a:p/>
          <a:p>
            <a:r>
              <a:t>First, loss aversion. Damage is psychologically heavier than equivalent</a:t>
            </a:r>
          </a:p>
          <a:p>
            <a:r>
              <a:t>non-damage. Applies to dignity shocks just as material ones.</a:t>
            </a:r>
          </a:p>
          <a:p/>
          <a:p>
            <a:r>
              <a:t>Second, status is positional. Recognition can't be redistributed the way</a:t>
            </a:r>
          </a:p>
          <a:p>
            <a:r>
              <a:t>money can. Welfare clears space for inclusive solidarity but doesn't construct</a:t>
            </a:r>
          </a:p>
          <a:p>
            <a:r>
              <a:t>it.</a:t>
            </a:r>
          </a:p>
          <a:p/>
          <a:p>
            <a:r>
              <a:t>Third — and the one I'll flag honestly — defensive othering, once committed</a:t>
            </a:r>
          </a:p>
          <a:p>
            <a:r>
              <a:t>to, is costly to reverse. Pierson's positive feedback runs forward into</a:t>
            </a:r>
          </a:p>
          <a:p>
            <a:r>
              <a:t>support; the damage cascade runs forward into opposition that's harder to</a:t>
            </a:r>
          </a:p>
          <a:p>
            <a:r>
              <a:t>reverse. This is the strongest theoretical claim and the least directly</a:t>
            </a:r>
          </a:p>
          <a:p>
            <a:r>
              <a:t>tested. Worth flagging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[~60s]</a:t>
            </a:r>
          </a:p>
          <a:p/>
          <a:p>
            <a:r>
              <a:t>ESS rounds 6 to 9, 34 countries, N=188,764. The headline analysis restricts</a:t>
            </a:r>
          </a:p>
          <a:p>
            <a:r>
              <a:t>to the 15 Western European countries with CWED welfare-quality data.</a:t>
            </a:r>
          </a:p>
          <a:p/>
          <a:p>
            <a:r>
              <a:t>Cross-level interactions, country-wave fixed effects, cluster-robust SEs.</a:t>
            </a:r>
          </a:p>
          <a:p>
            <a:r>
              <a:t>Cross-sectional design. The claim is consistency with the asymmetric</a:t>
            </a:r>
          </a:p>
          <a:p>
            <a:r>
              <a:t>mechanism, not causation.</a:t>
            </a:r>
          </a:p>
          <a:p/>
          <a:p>
            <a:r>
              <a:t>Two competing welfare measures: ALMP spending — what the buffering literature</a:t>
            </a:r>
          </a:p>
          <a:p>
            <a:r>
              <a:t>typically uses — and CWED decommodification, the Esping-Andersen index.</a:t>
            </a:r>
          </a:p>
          <a:p/>
          <a:p>
            <a:r>
              <a:t>The asymmetric mechanism makes a sharp prediction: ALMP shouldn't predict the</a:t>
            </a:r>
          </a:p>
          <a:p>
            <a:r>
              <a:t>slope; CWED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</a:t>
            </a:r>
          </a:p>
          <a:p/>
          <a:p>
            <a:r>
              <a:t>Cross-national pattern by regime. Each panel a welfare regime; line is RTI</a:t>
            </a:r>
          </a:p>
          <a:p>
            <a:r>
              <a:t>predicting anti-immigration. Liberal steepest at point five one two. Nordic</a:t>
            </a:r>
          </a:p>
          <a:p>
            <a:r>
              <a:t>flattest at point four one three.</a:t>
            </a:r>
          </a:p>
          <a:p/>
          <a:p>
            <a:r>
              <a:t>Same routine-task exposure, different conversion into exclusion. The buffering</a:t>
            </a:r>
          </a:p>
          <a:p>
            <a:r>
              <a:t>reading would predict more spending → flatter slope. We test that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[~90s — empirical highlight]</a:t>
            </a:r>
          </a:p>
          <a:p/>
          <a:p>
            <a:r>
              <a:t>This is the paper's most important empirical contrast. Same fifteen Western</a:t>
            </a:r>
          </a:p>
          <a:p>
            <a:r>
              <a:t>European countries, two ways of measuring welfare.</a:t>
            </a:r>
          </a:p>
          <a:p/>
          <a:p>
            <a:r>
              <a:t>ALMP spending: r equals plus point zero one. Essentially zero. Spending more</a:t>
            </a:r>
          </a:p>
          <a:p>
            <a:r>
              <a:t>on labour market policies has nothing to do with the cross-national pattern.</a:t>
            </a:r>
          </a:p>
          <a:p/>
          <a:p>
            <a:r>
              <a:t>CWED decommodification: r equals negative point eight five. Seventy-two</a:t>
            </a:r>
          </a:p>
          <a:p>
            <a:r>
              <a:t>percent of the cross-national variation. UK lowest, Norway highest. Exactly</a:t>
            </a:r>
          </a:p>
          <a:p>
            <a:r>
              <a:t>what the asymmetric mechanism predicts and what the buffering account cannot</a:t>
            </a:r>
          </a:p>
          <a:p>
            <a:r>
              <a:t>explain.</a:t>
            </a:r>
          </a:p>
          <a:p/>
          <a:p>
            <a:r>
              <a:t>The difference: ALMP captures effort. You can spend a lot on punitive</a:t>
            </a:r>
          </a:p>
          <a:p>
            <a:r>
              <a:t>workfare. CWED captures decommodification — what the welfare state lets you</a:t>
            </a:r>
          </a:p>
          <a:p>
            <a:r>
              <a:t>have, not what it costs to provide. Dignity travels along the second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[~75s — new finding]</a:t>
            </a:r>
          </a:p>
          <a:p/>
          <a:p>
            <a:r>
              <a:t>Decomposing CWED into three sub-components: unemployment generosity, sickness,</a:t>
            </a:r>
          </a:p>
          <a:p>
            <a:r>
              <a:t>pensions. Theory predicts unemployment should drive the result — that's where</a:t>
            </a:r>
          </a:p>
          <a:p>
            <a:r>
              <a:t>automation-exposed routine workers meet the welfare state.</a:t>
            </a:r>
          </a:p>
          <a:p/>
          <a:p>
            <a:r>
              <a:t>Individual-level: unemployment beta minus zero point zero five three, p less</a:t>
            </a:r>
          </a:p>
          <a:p>
            <a:r>
              <a:t>than point zero zero one. Sickness intermediate. Pensions weakest, marginal.</a:t>
            </a:r>
          </a:p>
          <a:p/>
          <a:p>
            <a:r>
              <a:t>Predicted UE greater than SK greater than PEN. Observed: same. The asymmetric</a:t>
            </a:r>
          </a:p>
          <a:p>
            <a:r>
              <a:t>mechanism's specific prediction holds at the test that matters.</a:t>
            </a:r>
          </a:p>
          <a:p/>
          <a:p>
            <a:r>
              <a:t>For thesis design: focus on unemployment benefit reforms — 2003, 2006, 2013</a:t>
            </a:r>
          </a:p>
          <a:p>
            <a:r>
              <a:t>activation reforms. Pension reforms shouldn't show damage signatures.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[~75s]</a:t>
            </a:r>
          </a:p>
          <a:p/>
          <a:p>
            <a:r>
              <a:t>Same data, two outcomes. RTI predicts anti-immigration more strongly in</a:t>
            </a:r>
          </a:p>
          <a:p>
            <a:r>
              <a:t>Liberal regimes than Nordic — beta point one two seven, p equals point zero</a:t>
            </a:r>
          </a:p>
          <a:p>
            <a:r>
              <a:t>zero three. Robust across every specification.</a:t>
            </a:r>
          </a:p>
          <a:p/>
          <a:p>
            <a:r>
              <a:t>RTI also predicts slightly higher redistribution support across all regimes,</a:t>
            </a:r>
          </a:p>
          <a:p>
            <a:r>
              <a:t>but the cross-regime variation in that pathway is small, non-significant, and</a:t>
            </a:r>
          </a:p>
          <a:p>
            <a:r>
              <a:t>in the wrong direction.</a:t>
            </a:r>
          </a:p>
          <a:p/>
          <a:p>
            <a:r>
              <a:t>Welfare context attenuates exclusion. It does not detectably moderate</a:t>
            </a:r>
          </a:p>
          <a:p>
            <a:r>
              <a:t>solidarity.</a:t>
            </a:r>
          </a:p>
          <a:p/>
          <a:p>
            <a:r>
              <a:t>Two readings: measurement limitation, or substantive confirmation. The</a:t>
            </a:r>
          </a:p>
          <a:p>
            <a:r>
              <a:t>supplementary ISSP test on different data with different outcome returns the</a:t>
            </a:r>
          </a:p>
          <a:p>
            <a:r>
              <a:t>same null. I take the substantive reading. It's what the theory predicts.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[~50s]</a:t>
            </a:r>
          </a:p>
          <a:p/>
          <a:p>
            <a:r>
              <a:t>Four implications.</a:t>
            </a:r>
          </a:p>
          <a:p/>
          <a:p>
            <a:r>
              <a:t>Welfare-state theory: dimension that matters is what welfare communicates.</a:t>
            </a:r>
          </a:p>
          <a:p/>
          <a:p>
            <a:r>
              <a:t>Cultural-vs-economic: cultural backlash IS what economic disruption looks</a:t>
            </a:r>
          </a:p>
          <a:p>
            <a:r>
              <a:t>like under thin decommodification.</a:t>
            </a:r>
          </a:p>
          <a:p/>
          <a:p>
            <a:r>
              <a:t>Policy: dignity is necessary but not sufficient.</a:t>
            </a:r>
          </a:p>
          <a:p/>
          <a:p>
            <a:r>
              <a:t>Thesis: Danish registry data, the 2003, 2006, 2013 activation reforms —</a:t>
            </a:r>
          </a:p>
          <a:p>
            <a:r>
              <a:t>within-individual test of the cascade.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</a:t>
            </a:r>
          </a:p>
          <a:p/>
          <a:p>
            <a:r>
              <a:t>Dignity is a baseline. Its absence damages. Its presence clears the ground</a:t>
            </a:r>
          </a:p>
          <a:p>
            <a:r>
              <a:t>for solidarity. It does not, by itself, produce solidarity.</a:t>
            </a:r>
          </a:p>
          <a:p/>
          <a:p>
            <a:r>
              <a:t>The asymmetric mechanism is the technical version. The line is the moral</a:t>
            </a:r>
          </a:p>
          <a:p>
            <a:r>
              <a:t>version. Both are saying the same thing.</a:t>
            </a:r>
          </a:p>
          <a:p/>
          <a:p>
            <a:r>
              <a:t>Thank you.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B3D91"/>
                </a:solidFill>
                <a:latin typeface="Calibri"/>
              </a:rPr>
              <a:t>Dignity Is a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1A1A1A"/>
                </a:solidFill>
                <a:latin typeface="Calibri"/>
              </a:rPr>
              <a:t>Welfare Institutions and the Asymmetric Politics of Economic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alibri"/>
              </a:rPr>
              <a:t>Ben 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C757D"/>
                </a:solidFill>
                <a:latin typeface="Calibri"/>
              </a:rPr>
              <a:t>University of Copenhagen — Department of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C757D"/>
                </a:solidFill>
                <a:latin typeface="Calibri"/>
              </a:rPr>
              <a:t>Welfare State Seminar  ·  4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The puzzle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21031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4864" cy="21031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Robust empirical regularity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Workers in routine-task-intensive (RTI) occupations across Europe disproportionately support populist radical right parties.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Gingrich (2019); Kurer (2020); Im et al. (2019); Autor et al. (2020)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943600" cy="21031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11880"/>
            <a:ext cx="54864" cy="21031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Cross-national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The same automation exposure converts into anti-immigration sentiment more readily in some welfare states than others.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Vlandas &amp; Halikiopoulou (2022); Caselli et al. (2021)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280160"/>
            <a:ext cx="4846320" cy="210312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1280160"/>
            <a:ext cx="54864" cy="21031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757D"/>
                </a:solidFill>
                <a:latin typeface="Calibri"/>
              </a:rPr>
              <a:t>The standard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74519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Welfare buffers the backlash.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C757D"/>
                </a:solidFill>
                <a:latin typeface="Calibri"/>
              </a:rPr>
              <a:t>Spend more, get less populism.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611880"/>
            <a:ext cx="4846320" cy="25603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3611880"/>
            <a:ext cx="54864" cy="25603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My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160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The standard reading is missing the mechanism.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074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  <a:latin typeface="Calibri"/>
              </a:rPr>
              <a:t>What welfare communicates matters more than what welfare spends.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What buffering predicts — and where it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9144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864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  <a:latin typeface="Calibri"/>
              </a:rPr>
              <a:t>"Following Ruggie's (1982) embedded liberalism bargain, generous compensation should dampen the political insecurity produced by economic openness."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Operative variable: quantity. More spending → less populism. Symmetric mechanism.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657600" cy="320040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54864" cy="320040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302C"/>
                </a:solidFill>
                <a:latin typeface="Calibri"/>
              </a:rPr>
              <a:t>Compensation that doesn't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5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Generous welfare states show no weaker automation→populism effect.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Calibri"/>
              </a:rPr>
              <a:t>Gingrich (2019)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017520"/>
            <a:ext cx="3657600" cy="320040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017520"/>
            <a:ext cx="54864" cy="320040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1546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302C"/>
                </a:solidFill>
                <a:latin typeface="Calibri"/>
              </a:rPr>
              <a:t>Compensation that backfires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5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German coal phase-out: compensated communities had higher abstention and lower issue-owner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Calibri"/>
              </a:rPr>
              <a:t>Stutzmann (2025)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017520"/>
            <a:ext cx="3657600" cy="320040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017520"/>
            <a:ext cx="54864" cy="320040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1546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302C"/>
                </a:solidFill>
                <a:latin typeface="Calibri"/>
              </a:rPr>
              <a:t>Compensation that is resisted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79475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Workers refuse compensation that fully replaces income. Form &amp; source matter independently of material content.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Calibri"/>
              </a:rPr>
              <a:t>Pelc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What's missing — the recognition literature names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554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864" cy="15544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  <a:latin typeface="Calibri"/>
              </a:rPr>
              <a:t>"When relative societal decline rather than material hardship are at the heart of socially conservative resentment, traditional welfare policy may be an insufficient response..."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— Kurer (2020, p.1801)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11064240" cy="1554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54864" cy="15544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  <a:latin typeface="Calibri"/>
              </a:rPr>
              <a:t>"This appeal to personal dignity is key to winning routine workers' support. Perhaps even more than social protection, they demand economic AND cultural protection."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— Kurer &amp; Palier (2019)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064240" cy="1554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54864" cy="15544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  <a:latin typeface="Calibri"/>
              </a:rPr>
              <a:t>Right-populist voters "care as much, or even more, about recognition as about redistribution."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— Gidron &amp; Hall (2017, p.26)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The argument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B3D91"/>
                </a:solidFill>
                <a:latin typeface="Calibri"/>
              </a:rPr>
              <a:t>Welfare institutions are asymmetric in their political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86400" cy="274320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" cy="274320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302C"/>
                </a:solidFill>
                <a:latin typeface="Calibri"/>
              </a:rPr>
              <a:t>They CAN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By degrading recognition for vulnerable workers, conditioning three documented psychological mechanisms to engage in sequence: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Identity switching  (Bonomi et al. 2021)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Misattribution  (Gallego &amp; Kurer 2022)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Defensive othering  (Patrick 2016; Wagner 2022)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5486400" cy="27432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4864" cy="27432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They CANNOT symmetrically succeed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Producing solidarity requires constructive political work that welfare design alone cannot do.
The mirror-image mechanism does not exist.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64240" cy="137160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Dignity is a baseline good.</a:t>
            </a:r>
          </a:p>
          <a:p>
            <a:pPr algn="ctr"/>
            <a:r>
              <a:rPr sz="1500" i="1">
                <a:solidFill>
                  <a:srgbClr val="FFFFFF"/>
                </a:solidFill>
                <a:latin typeface="Calibri"/>
              </a:rPr>
              <a:t>Its absence damages. Its presence clears the ground for solidarity without producing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What's documented in the literature vs what I argue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512064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4864" cy="51206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DOCUMENTED  (each step has its own literature)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Stigmatising welfare implementation degrades class identity  (Soss 1999; Wagner 2022)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Class identity loss → cultural identity activation  (Bonomi et al. 2021)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Cultural identity → exclusionary attitudes  (Ballard-Rosa et al. 2022; Wu 2022)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Conditional welfare → individual rather than structural attribution  (Alesina &amp; Angeletos 2005)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486400" cy="512064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4864" cy="512064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02C"/>
                </a:solidFill>
                <a:latin typeface="Calibri"/>
              </a:rPr>
              <a:t>ARGUED  (my contribution, not yet proven)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These three mechanisms operate as a connected sequence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Welfare design is the institutional condition determining whether they engage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The mechanism is asymmetric — no symmetric protective mechanism with comparable evidence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The cross-national correlation is consistent with this; within-individual test belongs to the thesis follow-up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Why no symmetric mirror image — three reasons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657600" cy="50292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4864" cy="50292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1.  Loss aversion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Kahneman &amp; Tversky (1979): losses loom larger than equivalent gains.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 stigmatising encounter registers as a status loss. A dignity-preserving one registers as the ABSENCE of damage.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Damage mobilises; absence of damage tends not 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657600" cy="50292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54864" cy="50292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2.  Status is positional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Recognition cannot be redistributed without losses to the currently-recognised.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Dignity-preserving welfare REMOVES an obstacle to inclusive solidarity.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It does not, by itself, CONSTRUCT the inclusion.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806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Gidron &amp; Hall (2017)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80160"/>
            <a:ext cx="3657600" cy="50292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54864" cy="50292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3.  Investments are sticky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65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Once a worker has built deservingness on critique of those below, the identity investment is costly to reverse.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632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Pierson's (1994) positive feedback runs FORWARD into support.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60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The cascade runs forward into harder-to-reverse opposition.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806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Caveat: strongest theoretical claim, least directly tested.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Empirical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European Social Survey rounds 6–9 (2012–2018)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34 countries, N = 188,764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15 Western European countries in CWED welfare-quality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Cross-level interactions: RTI × Welfare → attitudes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Country-wave fixed effects, cluster-robust SEs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Random-slope mixed models for cross-national heterogeneity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Cross-sectional design — claim is consistency, not causation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Two competing welfare measures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146304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4864" cy="14630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757D"/>
                </a:solidFill>
                <a:latin typeface="Calibri"/>
              </a:rPr>
              <a:t>ALMP spending (% GDP)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  <a:latin typeface="Calibri"/>
              </a:rPr>
              <a:t>What the buffering literature 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Captures welfare EFFORT.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20440"/>
            <a:ext cx="5303520" cy="16459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520440"/>
            <a:ext cx="54864" cy="1645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CWED decommodification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  <a:latin typeface="Calibri"/>
              </a:rPr>
              <a:t>Esping-Andersen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5262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degree to which workers can sustain themselves WITHOUT dependence on the market.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486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B3D91"/>
                </a:solidFill>
                <a:latin typeface="Calibri"/>
              </a:rPr>
              <a:t>Asymmetric mechanism predicts:
ALMP fails; CWED predicts strongly.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Cross-national pattern: 5 welfare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_rti_vs_antiimmig_by_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772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Slope: RTI → anti-immig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Liberal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β = 0.512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Southern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β = 0.462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Continental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β = 0.443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3832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Nordic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33832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β = 0.413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Calibri"/>
              </a:rPr>
              <a:t>Eastern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Calibri"/>
              </a:rPr>
              <a:t>β = 0.263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1A"/>
                </a:solidFill>
                <a:latin typeface="Calibri"/>
              </a:rPr>
              <a:t>Same RTI exposure, different conversion into exclusion. Liberal steepest, Nordic flattest.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The empirical headline: ALMP vs CWED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6_cwed_country_slo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349240"/>
            <a:ext cx="5486400" cy="128016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349240"/>
            <a:ext cx="54864" cy="12801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  <a:latin typeface="Calibri"/>
              </a:rPr>
              <a:t>ALMP spending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r = +0.01,  p = 0.97  (n.s.)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Spending effort is uncorrelated with the slope.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349240"/>
            <a:ext cx="5486400" cy="12801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5349240"/>
            <a:ext cx="54864" cy="12801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CWED decommodification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r = −0.85,  p &lt; 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6263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Decommodification accounts for 72% of cross-national variation.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Decomposing CWED: which dimension carries the signal?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7_cwed_sub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67512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Individual-level: RTI × component → anti-immigration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Unemployment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48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−0.053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148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&lt;0.001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Sickness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−0.037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68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0.003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−0.019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0.066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08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Composite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−0.051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108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&lt;0.001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N = 81,887; country-wave FE; cluster-robust 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64240" cy="1554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54864" cy="15544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Theory predicts UE &gt; SK &gt; PEN.    Observed at individual level: UE &gt; SK &gt; PEN.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cascade fires through the point of economic vulnerability — where automation-exposed workers actually meet the welfare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Calibri"/>
              </a:rPr>
              <a:t>Implication for thesis: Danish 2003/2006/2013 activation reforms should produce damage signatures; pension reforms should 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Same data, opposite outcome — the asymmetric confirmation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  <a:latin typeface="Calibri"/>
              </a:rPr>
              <a:t>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  <a:latin typeface="Calibri"/>
              </a:rPr>
              <a:t>RTI × Liberal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  <a:latin typeface="Calibri"/>
              </a:rPr>
              <a:t>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274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Anti-immigration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β = +0.127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0.003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Redistribution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β = +0.011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757D"/>
                </a:solidFill>
                <a:latin typeface="Calibri"/>
              </a:rPr>
              <a:t>0.285 (n.s.)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1064240" cy="274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25603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4864" cy="25603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The exclusion side is robust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Welfare context cleanly attenuates the conversion of vulnerability into exclusion.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Robust across every specification.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486400" cy="2560320"/>
          </a:xfrm>
          <a:prstGeom prst="roundRect">
            <a:avLst/>
          </a:prstGeom>
          <a:solidFill>
            <a:srgbClr val="FF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54864" cy="256032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302C"/>
                </a:solidFill>
                <a:latin typeface="Calibri"/>
              </a:rPr>
              <a:t>The solidarity side is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Welfare context does NOT detectably moderate conversion into solidarity.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ISSP 2006 confirmation: same null on different sample/outcome/period (β=+0.010, p=0.55).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0B3D91"/>
                </a:solidFill>
                <a:latin typeface="Calibri"/>
              </a:rPr>
              <a:t>This is what the asymmetric mechanism predicts.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" cy="10058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For welfare-state theory: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the political consequences of welfare design travel along WHAT welfare communicates, not HOW MUCH it spends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4864" cy="10058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For the cultural-vs-economic debate: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cultural backlash isn't a rival explanation to economic disruption; it's what economic disruption LOOKS LIKE, cross-nationally, where welfare institutions are less decommodifying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54864" cy="10058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For policy: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dignity-preserving welfare is necessary but not sufficient for solidarity. Active solidarity requires political work welfare design alone can't 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54864" cy="100584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302C"/>
                </a:solidFill>
                <a:latin typeface="Calibri"/>
              </a:rPr>
              <a:t>For the thesis follow-up: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Danish registry data on individuals before and after the 2003/2006/2013 activation reforms — testing within-individual whether conditionality shocks produce damage signatures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B3D91"/>
                </a:solidFill>
                <a:latin typeface="Calibri"/>
              </a:rPr>
              <a:t>Dignity is a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1A1A1A"/>
                </a:solidFill>
                <a:latin typeface="Calibri"/>
              </a:rPr>
              <a:t>Its absence damages.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1A1A1A"/>
                </a:solidFill>
                <a:latin typeface="Calibri"/>
              </a:rPr>
              <a:t>Its presence clears the ground for solidarity.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1A1A1A"/>
                </a:solidFill>
                <a:latin typeface="Calibri"/>
              </a:rPr>
              <a:t>It does not, by itself, produce solidarity.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B3D91"/>
                </a:solidFill>
                <a:latin typeface="Calibri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C757D"/>
                </a:solidFill>
                <a:latin typeface="Calibri"/>
              </a:rPr>
              <a:t>ben.smart@econ.ku.dk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Backup: marginal 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marginal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A 1-SD increase in RTI is associated with: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0.32 additional scale points of anti-immigration sentiment in Liberal regimes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0.20 in Nordic regimes — gap is significant and substantively meaningful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Backup: Burgoon &amp; Schakel (2022)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They find: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welfare generosity dampens anti-globalisation nationalism in European party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11064240" cy="32004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54864" cy="3200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Apparent contradiction with my null on ALMP — resolved by unit of analysis: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B&amp;S measure platform language at the PARTY level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I measure attitudinal slopes at the INDIVIDUAL level conditional on RTI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Mechanisms differ: elite incentives + coalition arithmetic vs institutional encounter + self-concept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Both findings can be true. Welfare generosity may dampen the SUPPLY of anti-globalisation rhetoric while the DEMAND for exclusionary attitudes responds to a different dimension entirely.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Backup: Denmark complication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Despite high CWED generosity, Denmark shows steeper RTI → exclusion slope (β=0.50) than Finland, Sweden, or Norway.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27432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4864" cy="27432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Reading: confirmation, not anomaly.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Danish 'flexicurity' combines generous benefits with high labour market flexibility and active job search requirements — generous in transfers, demanding in activation.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asymmetric mechanism predicts conditionality and surveillance damage the self-concept EVEN WHEN transfer levels are high. Conditionality communicates suspicion.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Calibri"/>
              </a:rPr>
              <a:t>Robustness: country-level finding survives all single-country exclusions.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  <a:latin typeface="Calibri"/>
              </a:rPr>
              <a:t>r = −0.717 even with both highest-leverage observations dropped (p = 0.006).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Backup: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36576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Cross-sectional design cannot establish temporal ordering. Within-individual test belongs to the registry follow-up.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Country-level confounders: Nordic high-CWED also have higher social trust, stronger unions, PR systems, lower ethnic heterogeneity.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N = 15 country-level observations for the headline correlation. Individual-level Model 3 (β = −0.06, p = 0.015, N ≈ 82k) is the more defensible test.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Loss aversion claim applies behavioural economics by analogy to dignity shocks. Supporting work consistent but doesn't test it directly.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The damage cascade as a connected sequence is theoretical synthesis, not empirically demonstrated. Each step has independent evidence; the chain is my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