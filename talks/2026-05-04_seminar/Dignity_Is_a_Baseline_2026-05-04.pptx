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 open]</a:t>
            </a:r>
          </a:p>
          <a:p/>
          <a:p>
            <a:r>
              <a:t>Good afternoon. The paper is called "Dignity Is a Baseline." The thirty-second</a:t>
            </a:r>
          </a:p>
          <a:p>
            <a:r>
              <a:t>version: workers exposed to automation are more anti-immigration than their</a:t>
            </a:r>
          </a:p>
          <a:p>
            <a:r>
              <a:t>material interests would predict, the gap is bigger in some welfare states</a:t>
            </a:r>
          </a:p>
          <a:p>
            <a:r>
              <a:t>than in others, and the conventional explanation — that more generous welfare</a:t>
            </a:r>
          </a:p>
          <a:p>
            <a:r>
              <a:t>buffers the political backlash — is wrong about the mechanism in a specific</a:t>
            </a:r>
          </a:p>
          <a:p>
            <a:r>
              <a:t>and testable way. The mechanism is asymmetric. I'll show you why.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a:t>
            </a:r>
          </a:p>
          <a:p/>
          <a:p>
            <a:r>
              <a:t>Set up the empirical regularity, then the puzzle. RTI workers vote radical right</a:t>
            </a:r>
          </a:p>
          <a:p>
            <a:r>
              <a:t>disproportionately — well documented. The cross-national variation is also</a:t>
            </a:r>
          </a:p>
          <a:p>
            <a:r>
              <a:t>documented. The dominant interpretation is the buffering account: generous</a:t>
            </a:r>
          </a:p>
          <a:p>
            <a:r>
              <a:t>welfare states see less populism because they cushion the dislocated.</a:t>
            </a:r>
          </a:p>
          <a:p/>
          <a:p>
            <a:r>
              <a:t>I'm going to argue this account is wrong about the mechanism. Not wrong that</a:t>
            </a:r>
          </a:p>
          <a:p>
            <a:r>
              <a:t>welfare matters — wrong about HOW welfare matters. And the consequences for</a:t>
            </a:r>
          </a:p>
          <a:p>
            <a:r>
              <a:t>how we think about welfare-state design are real.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a:t>
            </a:r>
          </a:p>
          <a:p/>
          <a:p>
            <a:r>
              <a:t>The buffering reading rests on Ruggie's embedded liberalism. Compensation is a</a:t>
            </a:r>
          </a:p>
          <a:p>
            <a:r>
              <a:t>quantity. The mechanism is symmetric — what damages is undone by what compensates.</a:t>
            </a:r>
          </a:p>
          <a:p>
            <a:r>
              <a:t>The variable is how much the welfare state spends.</a:t>
            </a:r>
          </a:p>
          <a:p/>
          <a:p>
            <a:r>
              <a:t>The quantity assumption is what I want to challenge. Spend more, get less</a:t>
            </a:r>
          </a:p>
          <a:p>
            <a:r>
              <a:t>populism — this turns out to fit the data poorly.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 speak to each column for ~30 sec]</a:t>
            </a:r>
          </a:p>
          <a:p/>
          <a:p>
            <a:r>
              <a:t>Three different research designs, three different findings, all pointing the</a:t>
            </a:r>
          </a:p>
          <a:p>
            <a:r>
              <a:t>same direction. Gingrich's cross-national analysis: more generous welfare</a:t>
            </a:r>
          </a:p>
          <a:p>
            <a:r>
              <a:t>states do not show weaker automation-to-populism effects. Stutzmann on the</a:t>
            </a:r>
          </a:p>
          <a:p>
            <a:r>
              <a:t>German coal phase-out: a textbook case of policy compensation that backfired</a:t>
            </a:r>
          </a:p>
          <a:p>
            <a:r>
              <a:t>politically. Pelc's experimental work: workers reject compensation that</a:t>
            </a:r>
          </a:p>
          <a:p>
            <a:r>
              <a:t>should, materially, satisfy them.</a:t>
            </a:r>
          </a:p>
          <a:p/>
          <a:p>
            <a:r>
              <a:t>The pattern across these is that material compensation is doing less of the</a:t>
            </a:r>
          </a:p>
          <a:p>
            <a:r>
              <a:t>political work than the buffering model assumes.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a:t>
            </a:r>
          </a:p>
          <a:p/>
          <a:p>
            <a:r>
              <a:t>Three quotes from major contributions in the literature, all pointing at the</a:t>
            </a:r>
          </a:p>
          <a:p>
            <a:r>
              <a:t>same thing: redistribution and recognition aren't fungible. The buffering</a:t>
            </a:r>
          </a:p>
          <a:p>
            <a:r>
              <a:t>framework treats them as if they were. They aren't, and the empirical record</a:t>
            </a:r>
          </a:p>
          <a:p>
            <a:r>
              <a:t>keeps showing this.</a:t>
            </a:r>
          </a:p>
          <a:p/>
          <a:p>
            <a:r>
              <a:t>This is where my argument enters. I take Kurer's claim literally — that</a:t>
            </a:r>
          </a:p>
          <a:p>
            <a:r>
              <a:t>traditional welfare may be an insufficient response — and ask which</a:t>
            </a:r>
          </a:p>
          <a:p>
            <a:r>
              <a:t>institutional dimension actually does the political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 this is the central conceptual slide]</a:t>
            </a:r>
          </a:p>
          <a:p/>
          <a:p>
            <a:r>
              <a:t>This is the argument. Welfare institutions can fail politically through a</a:t>
            </a:r>
          </a:p>
          <a:p>
            <a:r>
              <a:t>specific cascade — identity switching, misattribution, defensive othering. I'll</a:t>
            </a:r>
          </a:p>
          <a:p>
            <a:r>
              <a:t>walk through each in a moment.</a:t>
            </a:r>
          </a:p>
          <a:p/>
          <a:p>
            <a:r>
              <a:t>The key claim is asymmetric. The mechanism that damages is real and observable.</a:t>
            </a:r>
          </a:p>
          <a:p>
            <a:r>
              <a:t>The mirror-image protective mechanism — where dignity-preserving welfare</a:t>
            </a:r>
          </a:p>
          <a:p>
            <a:r>
              <a:t>produces solidarity — is not. In my data and in others'.</a:t>
            </a:r>
          </a:p>
          <a:p/>
          <a:p>
            <a:r>
              <a:t>That last sentence is the paper's title in compressed form. Dignity is a</a:t>
            </a:r>
          </a:p>
          <a:p>
            <a:r>
              <a:t>baseline good. Its absence damages. Its presence clears ground for solidarity</a:t>
            </a:r>
          </a:p>
          <a:p>
            <a:r>
              <a:t>that other things have to build.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a:t>
            </a:r>
          </a:p>
          <a:p/>
          <a:p>
            <a:r>
              <a:t>The objection one would make at this stage is that lots of institutions shape</a:t>
            </a:r>
          </a:p>
          <a:p>
            <a:r>
              <a:t>identity. Why is welfare special?</a:t>
            </a:r>
          </a:p>
          <a:p/>
          <a:p>
            <a:r>
              <a:t>Welfare is the one state domain where economic vulnerability meets institutional</a:t>
            </a:r>
          </a:p>
          <a:p>
            <a:r>
              <a:t>treatment in the same act. A worker encountering the welfare state is being</a:t>
            </a:r>
          </a:p>
          <a:p>
            <a:r>
              <a:t>allocated resources AND being judged about their claim to them, simultaneously.</a:t>
            </a:r>
          </a:p>
          <a:p>
            <a:r>
              <a:t>That joint operation is unusual.</a:t>
            </a:r>
          </a:p>
          <a:p/>
          <a:p>
            <a:r>
              <a:t>This is what makes welfare uniquely load-bearing as a communicator of citizen</a:t>
            </a:r>
          </a:p>
          <a:p>
            <a:r>
              <a:t>worth. It's what Wagner's recipients are hearing when they "internalize</a:t>
            </a:r>
          </a:p>
          <a:p>
            <a:r>
              <a:t>deservingness criteria." It's what makes dignity an institutional outcome, not</a:t>
            </a:r>
          </a:p>
          <a:p>
            <a:r>
              <a:t>just a personal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a:t>
            </a:r>
          </a:p>
          <a:p/>
          <a:p>
            <a:r>
              <a:t>Three steps in sequence. Identity switches first — class to cultural. Then</a:t>
            </a:r>
          </a:p>
          <a:p>
            <a:r>
              <a:t>grievances misattribute — frustration that should target the actual cause of</a:t>
            </a:r>
          </a:p>
          <a:p>
            <a:r>
              <a:t>vulnerability gets pointed at immigrants. Then othering turns defensive — the</a:t>
            </a:r>
          </a:p>
          <a:p>
            <a:r>
              <a:t>worker shores up their own deservingness on critique of those below them.</a:t>
            </a:r>
          </a:p>
          <a:p/>
          <a:p>
            <a:r>
              <a:t>The cascade ends in what Busemeyer and colleagues call the</a:t>
            </a:r>
          </a:p>
          <a:p>
            <a:r>
              <a:t>"particularistic-authoritarian" preference. Pro-workfare, anti-poor,</a:t>
            </a:r>
          </a:p>
          <a:p>
            <a:r>
              <a:t>anti-social-investment.</a:t>
            </a:r>
          </a:p>
          <a:p/>
          <a:p>
            <a:r>
              <a:t>What's important about this slide: each step has a documented empirical</a:t>
            </a:r>
          </a:p>
          <a:p>
            <a:r>
              <a:t>literature, but no one has connected the chain. Connecting them — with welfare</a:t>
            </a:r>
          </a:p>
          <a:p>
            <a:r>
              <a:t>design as the upstream condition — is one of the paper's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a:t>
            </a:r>
          </a:p>
          <a:p/>
          <a:p>
            <a:r>
              <a:t>Three reasons the mechanism is one-way, not symmetric.</a:t>
            </a:r>
          </a:p>
          <a:p/>
          <a:p>
            <a:r>
              <a:t>First, loss aversion. Damage is psychologically heavier than equivalent</a:t>
            </a:r>
          </a:p>
          <a:p>
            <a:r>
              <a:t>non-damage. This applies to dignity shocks just as it applies to material ones.</a:t>
            </a:r>
          </a:p>
          <a:p/>
          <a:p>
            <a:r>
              <a:t>Second, status is positional. Recognition can't be redistributed the way money</a:t>
            </a:r>
          </a:p>
          <a:p>
            <a:r>
              <a:t>can — relational goods don't add to a fixed pool. Dignity-preserving welfare</a:t>
            </a:r>
          </a:p>
          <a:p>
            <a:r>
              <a:t>clears space for inclusive solidarity but doesn't itself produce the inclusion.</a:t>
            </a:r>
          </a:p>
          <a:p/>
          <a:p>
            <a:r>
              <a:t>Third — and the one I find theoretically most interesting — defensive othering,</a:t>
            </a:r>
          </a:p>
          <a:p>
            <a:r>
              <a:t>once committed to, is costly to reverse. The cascade isn't just additive. It's</a:t>
            </a:r>
          </a:p>
          <a:p>
            <a:r>
              <a:t>identity-investing. Pierson's classic positive-feedback story is forward into</a:t>
            </a:r>
          </a:p>
          <a:p>
            <a:r>
              <a:t>support; the damage cascade is forward into opposition that gets harder to</a:t>
            </a:r>
          </a:p>
          <a:p>
            <a:r>
              <a:t>reverse with each iteration.</a:t>
            </a:r>
          </a:p>
          <a:p/>
          <a:p>
            <a:r>
              <a:t>The implication: even if you fix the institutions, the cascade has already</a:t>
            </a:r>
          </a:p>
          <a:p>
            <a:r>
              <a:t>made commitments that institutions alone cannot undo.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a:t>
            </a:r>
          </a:p>
          <a:p/>
          <a:p>
            <a:r>
              <a:t>Quick description of the data. ESS waves 6 to 9, 34 countries. The headline</a:t>
            </a:r>
          </a:p>
          <a:p>
            <a:r>
              <a:t>analysis is a cross-level interaction — RTI predicting anti-immigration</a:t>
            </a:r>
          </a:p>
          <a:p>
            <a:r>
              <a:t>attitudes, with the slope conditional on welfare context. I run regimes,</a:t>
            </a:r>
          </a:p>
          <a:p>
            <a:r>
              <a:t>spending, and decommodification as alternative welfare measures.</a:t>
            </a:r>
          </a:p>
          <a:p/>
          <a:p>
            <a:r>
              <a:t>Cross-sectional design — I'm honest about that in the paper. I can show the</a:t>
            </a:r>
          </a:p>
          <a:p>
            <a:r>
              <a:t>pattern is consistent with the asymmetric mechanism; I can't establish</a:t>
            </a:r>
          </a:p>
          <a:p>
            <a:r>
              <a:t>causation here. The thesis follow-up does that with Danish registry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 the empirical highlight]</a:t>
            </a:r>
          </a:p>
          <a:p/>
          <a:p>
            <a:r>
              <a:t>This is the paper's most important empirical contrast. Same fifteen Western</a:t>
            </a:r>
          </a:p>
          <a:p>
            <a:r>
              <a:t>European countries, two ways of measuring welfare. Active labour market policy</a:t>
            </a:r>
          </a:p>
          <a:p>
            <a:r>
              <a:t>spending — what most of the buffering literature uses as its measure of</a:t>
            </a:r>
          </a:p>
          <a:p>
            <a:r>
              <a:t>welfare effort. CWED decommodification — the degree to which the welfare</a:t>
            </a:r>
          </a:p>
          <a:p>
            <a:r>
              <a:t>state lets you sustain yourself without market employment.</a:t>
            </a:r>
          </a:p>
          <a:p/>
          <a:p>
            <a:r>
              <a:t>ALMP spending: essentially zero correlation with how strongly automation</a:t>
            </a:r>
          </a:p>
          <a:p>
            <a:r>
              <a:t>exposure converts into exclusion. Spending more on labour market policies has</a:t>
            </a:r>
          </a:p>
          <a:p>
            <a:r>
              <a:t>nothing to do with the cross-national pattern.</a:t>
            </a:r>
          </a:p>
          <a:p/>
          <a:p>
            <a:r>
              <a:t>CWED decommodification: r equals negative point eight five. Seventy-two percent</a:t>
            </a:r>
          </a:p>
          <a:p>
            <a:r>
              <a:t>of the cross-national variation. The line you're looking at is what the</a:t>
            </a:r>
          </a:p>
          <a:p>
            <a:r>
              <a:t>asymmetric mechanism predicts and what the buffering account cannot explain.</a:t>
            </a:r>
          </a:p>
          <a:p/>
          <a:p>
            <a:r>
              <a:t>What's the difference? ALMP captures effort. You can spend a lot on punitive</a:t>
            </a:r>
          </a:p>
          <a:p>
            <a:r>
              <a:t>workfare. CWED captures decommodification — what the welfare state lets you</a:t>
            </a:r>
          </a:p>
          <a:p>
            <a:r>
              <a:t>have, not what it costs to provide. The dignity dimension travels along the</a:t>
            </a:r>
          </a:p>
          <a:p>
            <a:r>
              <a:t>second variable.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 the new finding]</a:t>
            </a:r>
          </a:p>
          <a:p/>
          <a:p>
            <a:r>
              <a:t>This is the new analysis I ran this week. The composite CWED hides three</a:t>
            </a:r>
          </a:p>
          <a:p>
            <a:r>
              <a:t>sub-components: unemployment generosity, sickness generosity, pension</a:t>
            </a:r>
          </a:p>
          <a:p>
            <a:r>
              <a:t>generosity. Theory predicts unemployment should drive the result — that's where</a:t>
            </a:r>
          </a:p>
          <a:p>
            <a:r>
              <a:t>automation-exposed workers actually meet the welfare state.</a:t>
            </a:r>
          </a:p>
          <a:p/>
          <a:p>
            <a:r>
              <a:t>Individual-level interaction: unemployment generosity, beta minus zero point</a:t>
            </a:r>
          </a:p>
          <a:p>
            <a:r>
              <a:t>zero five three, p less than point zero zero one. Sickness intermediate.</a:t>
            </a:r>
          </a:p>
          <a:p>
            <a:r>
              <a:t>Pensions weakest, marginally significant only.</a:t>
            </a:r>
          </a:p>
          <a:p/>
          <a:p>
            <a:r>
              <a:t>Theory holds at the test that matters: the institutional channel runs through</a:t>
            </a:r>
          </a:p>
          <a:p>
            <a:r>
              <a:t>the point of economic vulnerability, not through welfare expenditure in the</a:t>
            </a:r>
          </a:p>
          <a:p>
            <a:r>
              <a:t>abstract.</a:t>
            </a:r>
          </a:p>
          <a:p/>
          <a:p>
            <a:r>
              <a:t>For thesis design, this matters: the within-Denmark test should focus on</a:t>
            </a:r>
          </a:p>
          <a:p>
            <a:r>
              <a:t>unemployment benefit reforms — the 2003, 2006, and 2013 activation reforms.</a:t>
            </a:r>
          </a:p>
          <a:p>
            <a:r>
              <a:t>Pension reforms should NOT show damage signatures of the same magnitude.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a:t>
            </a:r>
          </a:p>
          <a:p/>
          <a:p>
            <a:r>
              <a:t>The same data tested two ways. RTI predicts anti-immigration attitudes more</a:t>
            </a:r>
          </a:p>
          <a:p>
            <a:r>
              <a:t>strongly in Liberal regimes than Nordic ones — the interaction is significant</a:t>
            </a:r>
          </a:p>
          <a:p>
            <a:r>
              <a:t>across every specification. RTI predicts slightly higher redistribution support</a:t>
            </a:r>
          </a:p>
          <a:p>
            <a:r>
              <a:t>across all regimes — but the cross-regime variation in that pathway is small,</a:t>
            </a:r>
          </a:p>
          <a:p>
            <a:r>
              <a:t>non-significant, and in the wrong direction.</a:t>
            </a:r>
          </a:p>
          <a:p/>
          <a:p>
            <a:r>
              <a:t>Welfare context attenuates conversion into exclusion. It does not detectably</a:t>
            </a:r>
          </a:p>
          <a:p>
            <a:r>
              <a:t>moderate conversion into solidarity.</a:t>
            </a:r>
          </a:p>
          <a:p/>
          <a:p>
            <a:r>
              <a:t>Two ways to read the null. As a measurement limitation — single-item scales,</a:t>
            </a:r>
          </a:p>
          <a:p>
            <a:r>
              <a:t>panel limitations. Or as a substantive confirmation — the mechanism IS</a:t>
            </a:r>
          </a:p>
          <a:p>
            <a:r>
              <a:t>asymmetric. The supplementary ISSP analysis on different data with a different</a:t>
            </a:r>
          </a:p>
          <a:p>
            <a:r>
              <a:t>outcome returns the same null. I take the substantive reading. It's what the</a:t>
            </a:r>
          </a:p>
          <a:p>
            <a:r>
              <a:t>theory predicts.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a:t>
            </a:r>
          </a:p>
          <a:p/>
          <a:p>
            <a:r>
              <a:t>Four implications.</a:t>
            </a:r>
          </a:p>
          <a:p/>
          <a:p>
            <a:r>
              <a:t>First, welfare-state theory: the dimension along which welfare's political</a:t>
            </a:r>
          </a:p>
          <a:p>
            <a:r>
              <a:t>effects travel is what it communicates, not how much it spends. Decommodification</a:t>
            </a:r>
          </a:p>
          <a:p>
            <a:r>
              <a:t>is a measure of the former. Spending is a measure of the latter.</a:t>
            </a:r>
          </a:p>
          <a:p/>
          <a:p>
            <a:r>
              <a:t>Second, the cultural-vs-economic debate. People keep arguing about whether</a:t>
            </a:r>
          </a:p>
          <a:p>
            <a:r>
              <a:t>populism is fundamentally about culture or about economics. My answer is: this</a:t>
            </a:r>
          </a:p>
          <a:p>
            <a:r>
              <a:t>distinction is misleading. Cultural backlash is what economic disruption looks</a:t>
            </a:r>
          </a:p>
          <a:p>
            <a:r>
              <a:t>like cross-nationally, when welfare institutions don't preserve recognition.</a:t>
            </a:r>
          </a:p>
          <a:p/>
          <a:p>
            <a:r>
              <a:t>Third, policy. Dignity-preserving welfare is a baseline good. It's necessary</a:t>
            </a:r>
          </a:p>
          <a:p>
            <a:r>
              <a:t>for solidarity but doesn't itself construct it.</a:t>
            </a:r>
          </a:p>
          <a:p/>
          <a:p>
            <a:r>
              <a:t>Fourth, where this goes next. Danish registry data lets me test the</a:t>
            </a:r>
          </a:p>
          <a:p>
            <a:r>
              <a:t>within-individual claim — that conditionality reforms produce damage signatures</a:t>
            </a:r>
          </a:p>
          <a:p>
            <a:r>
              <a:t>in panel attitudes. That's the thesis.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 30 seconds]</a:t>
            </a:r>
          </a:p>
          <a:p/>
          <a:p>
            <a:r>
              <a:t>The line that holds the paper together. Dignity is a baseline good. Its absence</a:t>
            </a:r>
          </a:p>
          <a:p>
            <a:r>
              <a:t>damages. Its presence clears ground for solidarity that has to be built on top,</a:t>
            </a:r>
          </a:p>
          <a:p>
            <a:r>
              <a:t>by other means.</a:t>
            </a:r>
          </a:p>
          <a:p/>
          <a:p>
            <a:r>
              <a:t>The asymmetric mechanism is the technical version. The line is the moral version.</a:t>
            </a:r>
          </a:p>
          <a:p>
            <a:r>
              <a:t>Both are saying the same thing.</a:t>
            </a:r>
          </a:p>
          <a:p/>
          <a:p>
            <a:r>
              <a:t>Thank you.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2194560"/>
            <a:ext cx="12191695" cy="1097280"/>
          </a:xfrm>
          <a:prstGeom prst="rect">
            <a:avLst/>
          </a:prstGeom>
          <a:noFill/>
        </p:spPr>
        <p:txBody>
          <a:bodyPr wrap="square">
            <a:spAutoFit/>
          </a:bodyPr>
          <a:lstStyle/>
          <a:p>
            <a:pPr algn="ctr"/>
            <a:r>
              <a:rPr sz="5400" b="1" i="0">
                <a:solidFill>
                  <a:srgbClr val="0B3D91"/>
                </a:solidFill>
                <a:latin typeface="Calibri"/>
              </a:rPr>
              <a:t>Dignity Is a Baseline</a:t>
            </a:r>
          </a:p>
        </p:txBody>
      </p:sp>
      <p:sp>
        <p:nvSpPr>
          <p:cNvPr id="3" name="TextBox 2"/>
          <p:cNvSpPr txBox="1"/>
          <p:nvPr/>
        </p:nvSpPr>
        <p:spPr>
          <a:xfrm>
            <a:off x="0" y="3383280"/>
            <a:ext cx="12191695" cy="640080"/>
          </a:xfrm>
          <a:prstGeom prst="rect">
            <a:avLst/>
          </a:prstGeom>
          <a:noFill/>
        </p:spPr>
        <p:txBody>
          <a:bodyPr wrap="square">
            <a:spAutoFit/>
          </a:bodyPr>
          <a:lstStyle/>
          <a:p>
            <a:pPr algn="ctr"/>
            <a:r>
              <a:rPr sz="2400" b="0" i="1">
                <a:solidFill>
                  <a:srgbClr val="1A1A1A"/>
                </a:solidFill>
                <a:latin typeface="Calibri"/>
              </a:rPr>
              <a:t>Welfare Institutions and the Asymmetric Politics of Economic Disruption</a:t>
            </a:r>
          </a:p>
        </p:txBody>
      </p:sp>
      <p:sp>
        <p:nvSpPr>
          <p:cNvPr id="4" name="TextBox 3"/>
          <p:cNvSpPr txBox="1"/>
          <p:nvPr/>
        </p:nvSpPr>
        <p:spPr>
          <a:xfrm>
            <a:off x="0" y="4754880"/>
            <a:ext cx="12191695" cy="457200"/>
          </a:xfrm>
          <a:prstGeom prst="rect">
            <a:avLst/>
          </a:prstGeom>
          <a:noFill/>
        </p:spPr>
        <p:txBody>
          <a:bodyPr wrap="square">
            <a:spAutoFit/>
          </a:bodyPr>
          <a:lstStyle/>
          <a:p>
            <a:pPr algn="ctr"/>
            <a:r>
              <a:rPr sz="2200" b="1" i="0">
                <a:solidFill>
                  <a:srgbClr val="1A1A1A"/>
                </a:solidFill>
                <a:latin typeface="Calibri"/>
              </a:rPr>
              <a:t>Ben Smart</a:t>
            </a:r>
          </a:p>
        </p:txBody>
      </p:sp>
      <p:sp>
        <p:nvSpPr>
          <p:cNvPr id="5" name="TextBox 4"/>
          <p:cNvSpPr txBox="1"/>
          <p:nvPr/>
        </p:nvSpPr>
        <p:spPr>
          <a:xfrm>
            <a:off x="0" y="5212080"/>
            <a:ext cx="12191695" cy="365760"/>
          </a:xfrm>
          <a:prstGeom prst="rect">
            <a:avLst/>
          </a:prstGeom>
          <a:noFill/>
        </p:spPr>
        <p:txBody>
          <a:bodyPr wrap="square">
            <a:spAutoFit/>
          </a:bodyPr>
          <a:lstStyle/>
          <a:p>
            <a:pPr algn="ctr"/>
            <a:r>
              <a:rPr sz="1600" b="0" i="0">
                <a:solidFill>
                  <a:srgbClr val="6C757D"/>
                </a:solidFill>
                <a:latin typeface="Calibri"/>
              </a:rPr>
              <a:t>University of Copenhagen — Department of Economics</a:t>
            </a:r>
          </a:p>
        </p:txBody>
      </p:sp>
      <p:sp>
        <p:nvSpPr>
          <p:cNvPr id="6" name="TextBox 5"/>
          <p:cNvSpPr txBox="1"/>
          <p:nvPr/>
        </p:nvSpPr>
        <p:spPr>
          <a:xfrm>
            <a:off x="0" y="5852160"/>
            <a:ext cx="12191695" cy="365760"/>
          </a:xfrm>
          <a:prstGeom prst="rect">
            <a:avLst/>
          </a:prstGeom>
          <a:noFill/>
        </p:spPr>
        <p:txBody>
          <a:bodyPr wrap="square">
            <a:spAutoFit/>
          </a:bodyPr>
          <a:lstStyle/>
          <a:p>
            <a:pPr algn="ctr"/>
            <a:r>
              <a:rPr sz="1400" b="0" i="1">
                <a:solidFill>
                  <a:srgbClr val="6C757D"/>
                </a:solidFill>
                <a:latin typeface="Calibri"/>
              </a:rPr>
              <a:t>Welfare State Seminar  ·  4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The puzzle</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72800" cy="4572000"/>
          </a:xfrm>
          <a:prstGeom prst="rect">
            <a:avLst/>
          </a:prstGeom>
          <a:noFill/>
        </p:spPr>
        <p:txBody>
          <a:bodyPr wrap="square">
            <a:spAutoFit/>
          </a:bodyPr>
          <a:lstStyle/>
          <a:p>
            <a:pPr algn="l">
              <a:spcBef>
                <a:spcPts val="600"/>
              </a:spcBef>
              <a:spcAft>
                <a:spcPts val="600"/>
              </a:spcAft>
            </a:pPr>
            <a:r>
              <a:rPr sz="2200">
                <a:solidFill>
                  <a:srgbClr val="1A1A1A"/>
                </a:solidFill>
                <a:latin typeface="Calibri"/>
              </a:rPr>
              <a:t>•  Workers in routine-task-intensive (RTI) occupations across Europe disproportionately support populist radical right parties (Gingrich 2019; Kurer 2020; Im et al. 2019; Autor et al. 2020)</a:t>
            </a:r>
          </a:p>
          <a:p>
            <a:pPr algn="l">
              <a:spcBef>
                <a:spcPts val="600"/>
              </a:spcBef>
              <a:spcAft>
                <a:spcPts val="600"/>
              </a:spcAft>
            </a:pPr>
            <a:r>
              <a:rPr sz="2200">
                <a:solidFill>
                  <a:srgbClr val="1A1A1A"/>
                </a:solidFill>
                <a:latin typeface="Calibri"/>
              </a:rPr>
              <a:t>•  Cross-national variation: the same automation exposure converts into anti-immigration sentiment more readily in some welfare states than in others</a:t>
            </a:r>
          </a:p>
          <a:p>
            <a:pPr algn="l">
              <a:spcBef>
                <a:spcPts val="600"/>
              </a:spcBef>
              <a:spcAft>
                <a:spcPts val="600"/>
              </a:spcAft>
            </a:pPr>
            <a:r>
              <a:rPr sz="2200">
                <a:solidFill>
                  <a:srgbClr val="1A1A1A"/>
                </a:solidFill>
                <a:latin typeface="Calibri"/>
              </a:rPr>
              <a:t>•  Standard reading: welfare generosity buffers the political backlash. Spend more, get less populism.</a:t>
            </a:r>
          </a:p>
          <a:p>
            <a:pPr algn="l">
              <a:spcBef>
                <a:spcPts val="600"/>
              </a:spcBef>
              <a:spcAft>
                <a:spcPts val="600"/>
              </a:spcAft>
            </a:pPr>
            <a:r>
              <a:rPr sz="2200">
                <a:solidFill>
                  <a:srgbClr val="1A1A1A"/>
                </a:solidFill>
                <a:latin typeface="Calibri"/>
              </a:rPr>
              <a:t>•  Today's argument: this account is missing the mechanism it claims to describe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What the buffering account predicts</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72800" cy="1097280"/>
          </a:xfrm>
          <a:prstGeom prst="rect">
            <a:avLst/>
          </a:prstGeom>
          <a:noFill/>
        </p:spPr>
        <p:txBody>
          <a:bodyPr wrap="square">
            <a:spAutoFit/>
          </a:bodyPr>
          <a:lstStyle/>
          <a:p>
            <a:r>
              <a:rPr sz="2000" i="1">
                <a:solidFill>
                  <a:srgbClr val="6C757D"/>
                </a:solidFill>
                <a:latin typeface="Calibri"/>
              </a:rPr>
              <a:t>Following Ruggie's (1982) embedded liberalism bargain, generous compensation should dampen the political insecurity produced by economic openness.</a:t>
            </a:r>
          </a:p>
        </p:txBody>
      </p:sp>
      <p:sp>
        <p:nvSpPr>
          <p:cNvPr id="5" name="Rectangle 4"/>
          <p:cNvSpPr/>
          <p:nvPr/>
        </p:nvSpPr>
        <p:spPr>
          <a:xfrm>
            <a:off x="502920" y="1371600"/>
            <a:ext cx="45720" cy="109728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017520"/>
            <a:ext cx="10972800" cy="548640"/>
          </a:xfrm>
          <a:prstGeom prst="rect">
            <a:avLst/>
          </a:prstGeom>
          <a:noFill/>
        </p:spPr>
        <p:txBody>
          <a:bodyPr wrap="square">
            <a:spAutoFit/>
          </a:bodyPr>
          <a:lstStyle/>
          <a:p>
            <a:pPr algn="l"/>
            <a:r>
              <a:rPr sz="2600" b="1" i="0">
                <a:solidFill>
                  <a:srgbClr val="0B3D91"/>
                </a:solidFill>
                <a:latin typeface="Calibri"/>
              </a:rPr>
              <a:t>Operative variable: quantity</a:t>
            </a:r>
          </a:p>
        </p:txBody>
      </p:sp>
      <p:sp>
        <p:nvSpPr>
          <p:cNvPr id="7" name="TextBox 6"/>
          <p:cNvSpPr txBox="1"/>
          <p:nvPr/>
        </p:nvSpPr>
        <p:spPr>
          <a:xfrm>
            <a:off x="640080" y="3657600"/>
            <a:ext cx="10972800" cy="2743200"/>
          </a:xfrm>
          <a:prstGeom prst="rect">
            <a:avLst/>
          </a:prstGeom>
          <a:noFill/>
        </p:spPr>
        <p:txBody>
          <a:bodyPr wrap="square">
            <a:spAutoFit/>
          </a:bodyPr>
          <a:lstStyle/>
          <a:p>
            <a:pPr algn="l">
              <a:spcBef>
                <a:spcPts val="600"/>
              </a:spcBef>
              <a:spcAft>
                <a:spcPts val="600"/>
              </a:spcAft>
            </a:pPr>
            <a:r>
              <a:rPr sz="2000">
                <a:solidFill>
                  <a:srgbClr val="1A1A1A"/>
                </a:solidFill>
                <a:latin typeface="Calibri"/>
              </a:rPr>
              <a:t>•  More spending → less populism</a:t>
            </a:r>
          </a:p>
          <a:p>
            <a:pPr algn="l">
              <a:spcBef>
                <a:spcPts val="600"/>
              </a:spcBef>
              <a:spcAft>
                <a:spcPts val="600"/>
              </a:spcAft>
            </a:pPr>
            <a:r>
              <a:rPr sz="2000">
                <a:solidFill>
                  <a:srgbClr val="1A1A1A"/>
                </a:solidFill>
                <a:latin typeface="Calibri"/>
              </a:rPr>
              <a:t>•  Symmetric: damage and repair are mirror images of each other</a:t>
            </a:r>
          </a:p>
          <a:p>
            <a:pPr algn="l">
              <a:spcBef>
                <a:spcPts val="600"/>
              </a:spcBef>
              <a:spcAft>
                <a:spcPts val="600"/>
              </a:spcAft>
            </a:pPr>
            <a:r>
              <a:rPr sz="2000">
                <a:solidFill>
                  <a:srgbClr val="1A1A1A"/>
                </a:solidFill>
                <a:latin typeface="Calibri"/>
              </a:rPr>
              <a:t>•  Compensation works by replacing income lost to disruption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Three streams of evidence against buffering</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3657600" cy="457200"/>
          </a:xfrm>
          <a:prstGeom prst="rect">
            <a:avLst/>
          </a:prstGeom>
          <a:noFill/>
        </p:spPr>
        <p:txBody>
          <a:bodyPr wrap="square">
            <a:spAutoFit/>
          </a:bodyPr>
          <a:lstStyle/>
          <a:p>
            <a:pPr algn="l"/>
            <a:r>
              <a:rPr sz="1800" b="1" i="0">
                <a:solidFill>
                  <a:srgbClr val="0B3D91"/>
                </a:solidFill>
                <a:latin typeface="Calibri"/>
              </a:rPr>
              <a:t>Compensation that doesn't work</a:t>
            </a:r>
          </a:p>
        </p:txBody>
      </p:sp>
      <p:sp>
        <p:nvSpPr>
          <p:cNvPr id="5" name="TextBox 4"/>
          <p:cNvSpPr txBox="1"/>
          <p:nvPr/>
        </p:nvSpPr>
        <p:spPr>
          <a:xfrm>
            <a:off x="548640" y="1920239"/>
            <a:ext cx="3657600" cy="4389120"/>
          </a:xfrm>
          <a:prstGeom prst="rect">
            <a:avLst/>
          </a:prstGeom>
          <a:noFill/>
        </p:spPr>
        <p:txBody>
          <a:bodyPr wrap="square">
            <a:spAutoFit/>
          </a:bodyPr>
          <a:lstStyle/>
          <a:p>
            <a:pPr algn="l"/>
            <a:r>
              <a:rPr sz="1500" b="0" i="0">
                <a:solidFill>
                  <a:srgbClr val="1A1A1A"/>
                </a:solidFill>
                <a:latin typeface="Calibri"/>
              </a:rPr>
              <a:t>Gingrich (2019) finds workers exposed to automation are NOT less likely to vote populist in countries with more generous early retirement, more in-kind spending, or more protective regulation.
Gallego &amp; Kurer (2022) call this 'a concerning finding'.</a:t>
            </a:r>
          </a:p>
        </p:txBody>
      </p:sp>
      <p:sp>
        <p:nvSpPr>
          <p:cNvPr id="6" name="TextBox 5"/>
          <p:cNvSpPr txBox="1"/>
          <p:nvPr/>
        </p:nvSpPr>
        <p:spPr>
          <a:xfrm>
            <a:off x="4297680" y="1280160"/>
            <a:ext cx="3657600" cy="457200"/>
          </a:xfrm>
          <a:prstGeom prst="rect">
            <a:avLst/>
          </a:prstGeom>
          <a:noFill/>
        </p:spPr>
        <p:txBody>
          <a:bodyPr wrap="square">
            <a:spAutoFit/>
          </a:bodyPr>
          <a:lstStyle/>
          <a:p>
            <a:pPr algn="l"/>
            <a:r>
              <a:rPr sz="1800" b="1" i="0">
                <a:solidFill>
                  <a:srgbClr val="0B3D91"/>
                </a:solidFill>
                <a:latin typeface="Calibri"/>
              </a:rPr>
              <a:t>Compensation that backfires</a:t>
            </a:r>
          </a:p>
        </p:txBody>
      </p:sp>
      <p:sp>
        <p:nvSpPr>
          <p:cNvPr id="7" name="TextBox 6"/>
          <p:cNvSpPr txBox="1"/>
          <p:nvPr/>
        </p:nvSpPr>
        <p:spPr>
          <a:xfrm>
            <a:off x="4297680" y="1920239"/>
            <a:ext cx="3657600" cy="4389120"/>
          </a:xfrm>
          <a:prstGeom prst="rect">
            <a:avLst/>
          </a:prstGeom>
          <a:noFill/>
        </p:spPr>
        <p:txBody>
          <a:bodyPr wrap="square">
            <a:spAutoFit/>
          </a:bodyPr>
          <a:lstStyle/>
          <a:p>
            <a:pPr algn="l"/>
            <a:r>
              <a:rPr sz="1500" b="0" i="0">
                <a:solidFill>
                  <a:srgbClr val="1A1A1A"/>
                </a:solidFill>
                <a:latin typeface="Calibri"/>
              </a:rPr>
              <a:t>Stutzmann (2025) examines Germany's coal phase-out. Substantial compensatory investment. Material conditions held.
Affected municipalities showed higher abstention and lower support for the issue-owning party.</a:t>
            </a:r>
          </a:p>
        </p:txBody>
      </p:sp>
      <p:sp>
        <p:nvSpPr>
          <p:cNvPr id="8" name="TextBox 7"/>
          <p:cNvSpPr txBox="1"/>
          <p:nvPr/>
        </p:nvSpPr>
        <p:spPr>
          <a:xfrm>
            <a:off x="8046720" y="1280160"/>
            <a:ext cx="3657600" cy="457200"/>
          </a:xfrm>
          <a:prstGeom prst="rect">
            <a:avLst/>
          </a:prstGeom>
          <a:noFill/>
        </p:spPr>
        <p:txBody>
          <a:bodyPr wrap="square">
            <a:spAutoFit/>
          </a:bodyPr>
          <a:lstStyle/>
          <a:p>
            <a:pPr algn="l"/>
            <a:r>
              <a:rPr sz="1800" b="1" i="0">
                <a:solidFill>
                  <a:srgbClr val="0B3D91"/>
                </a:solidFill>
                <a:latin typeface="Calibri"/>
              </a:rPr>
              <a:t>Compensation that is resisted</a:t>
            </a:r>
          </a:p>
        </p:txBody>
      </p:sp>
      <p:sp>
        <p:nvSpPr>
          <p:cNvPr id="9" name="TextBox 8"/>
          <p:cNvSpPr txBox="1"/>
          <p:nvPr/>
        </p:nvSpPr>
        <p:spPr>
          <a:xfrm>
            <a:off x="8046720" y="1920239"/>
            <a:ext cx="3657600" cy="4389120"/>
          </a:xfrm>
          <a:prstGeom prst="rect">
            <a:avLst/>
          </a:prstGeom>
          <a:noFill/>
        </p:spPr>
        <p:txBody>
          <a:bodyPr wrap="square">
            <a:spAutoFit/>
          </a:bodyPr>
          <a:lstStyle/>
          <a:p>
            <a:pPr algn="l"/>
            <a:r>
              <a:rPr sz="1500" b="0" i="0">
                <a:solidFill>
                  <a:srgbClr val="1A1A1A"/>
                </a:solidFill>
                <a:latin typeface="Calibri"/>
              </a:rPr>
              <a:t>Pelc (2025): workers refuse to be compensated out of work even when the compensation fully replaces their income.
Form, source, and meaning of compensation matter independently of material content.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Kurer (2020) names the tension</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972800" cy="1463040"/>
          </a:xfrm>
          <a:prstGeom prst="rect">
            <a:avLst/>
          </a:prstGeom>
          <a:noFill/>
        </p:spPr>
        <p:txBody>
          <a:bodyPr wrap="square">
            <a:spAutoFit/>
          </a:bodyPr>
          <a:lstStyle/>
          <a:p>
            <a:r>
              <a:rPr sz="1800" i="1">
                <a:solidFill>
                  <a:srgbClr val="1A1A1A"/>
                </a:solidFill>
                <a:latin typeface="Calibri"/>
              </a:rPr>
              <a:t>"When relative societal decline rather than material hardship are at the heart of socially conservative resentment, traditional welfare policy may be an insufficient response to satisfy exposed workers and hence an ineffective remedy to counter the ascent of right-wing populist movements."</a:t>
            </a:r>
          </a:p>
        </p:txBody>
      </p:sp>
      <p:sp>
        <p:nvSpPr>
          <p:cNvPr id="5" name="Rectangle 4"/>
          <p:cNvSpPr/>
          <p:nvPr/>
        </p:nvSpPr>
        <p:spPr>
          <a:xfrm>
            <a:off x="502920" y="1280160"/>
            <a:ext cx="45720" cy="1463040"/>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926080"/>
            <a:ext cx="7315200" cy="365760"/>
          </a:xfrm>
          <a:prstGeom prst="rect">
            <a:avLst/>
          </a:prstGeom>
          <a:noFill/>
        </p:spPr>
        <p:txBody>
          <a:bodyPr wrap="square">
            <a:spAutoFit/>
          </a:bodyPr>
          <a:lstStyle/>
          <a:p>
            <a:pPr algn="l"/>
            <a:r>
              <a:rPr sz="1400" b="1" i="0">
                <a:solidFill>
                  <a:srgbClr val="0B3D91"/>
                </a:solidFill>
                <a:latin typeface="Calibri"/>
              </a:rPr>
              <a:t>Kurer &amp; Palier (2019):</a:t>
            </a:r>
          </a:p>
        </p:txBody>
      </p:sp>
      <p:sp>
        <p:nvSpPr>
          <p:cNvPr id="7" name="TextBox 6"/>
          <p:cNvSpPr txBox="1"/>
          <p:nvPr/>
        </p:nvSpPr>
        <p:spPr>
          <a:xfrm>
            <a:off x="640080" y="3337560"/>
            <a:ext cx="10972800" cy="914400"/>
          </a:xfrm>
          <a:prstGeom prst="rect">
            <a:avLst/>
          </a:prstGeom>
          <a:noFill/>
        </p:spPr>
        <p:txBody>
          <a:bodyPr wrap="square">
            <a:spAutoFit/>
          </a:bodyPr>
          <a:lstStyle/>
          <a:p>
            <a:r>
              <a:rPr sz="1500" i="1">
                <a:solidFill>
                  <a:srgbClr val="1A1A1A"/>
                </a:solidFill>
                <a:latin typeface="Calibri"/>
              </a:rPr>
              <a:t>"This appeal to personal dignity is key to winning routine workers' support. Perhaps even more than social protection, they demand economic AND cultural protection."</a:t>
            </a:r>
          </a:p>
        </p:txBody>
      </p:sp>
      <p:sp>
        <p:nvSpPr>
          <p:cNvPr id="8" name="TextBox 7"/>
          <p:cNvSpPr txBox="1"/>
          <p:nvPr/>
        </p:nvSpPr>
        <p:spPr>
          <a:xfrm>
            <a:off x="640080" y="4572000"/>
            <a:ext cx="7315200" cy="365760"/>
          </a:xfrm>
          <a:prstGeom prst="rect">
            <a:avLst/>
          </a:prstGeom>
          <a:noFill/>
        </p:spPr>
        <p:txBody>
          <a:bodyPr wrap="square">
            <a:spAutoFit/>
          </a:bodyPr>
          <a:lstStyle/>
          <a:p>
            <a:pPr algn="l"/>
            <a:r>
              <a:rPr sz="1400" b="1" i="0">
                <a:solidFill>
                  <a:srgbClr val="0B3D91"/>
                </a:solidFill>
                <a:latin typeface="Calibri"/>
              </a:rPr>
              <a:t>Gidron &amp; Hall (2017, p. 26):</a:t>
            </a:r>
          </a:p>
        </p:txBody>
      </p:sp>
      <p:sp>
        <p:nvSpPr>
          <p:cNvPr id="9" name="TextBox 8"/>
          <p:cNvSpPr txBox="1"/>
          <p:nvPr/>
        </p:nvSpPr>
        <p:spPr>
          <a:xfrm>
            <a:off x="640080" y="4983480"/>
            <a:ext cx="10972800" cy="914400"/>
          </a:xfrm>
          <a:prstGeom prst="rect">
            <a:avLst/>
          </a:prstGeom>
          <a:noFill/>
        </p:spPr>
        <p:txBody>
          <a:bodyPr wrap="square">
            <a:spAutoFit/>
          </a:bodyPr>
          <a:lstStyle/>
          <a:p>
            <a:r>
              <a:rPr sz="1500" i="1">
                <a:solidFill>
                  <a:srgbClr val="1A1A1A"/>
                </a:solidFill>
                <a:latin typeface="Calibri"/>
              </a:rPr>
              <a:t>Right-populist voters "care as much, or even more, about recognition as about redistribution."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The argument</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972800" cy="548640"/>
          </a:xfrm>
          <a:prstGeom prst="rect">
            <a:avLst/>
          </a:prstGeom>
          <a:noFill/>
        </p:spPr>
        <p:txBody>
          <a:bodyPr wrap="square">
            <a:spAutoFit/>
          </a:bodyPr>
          <a:lstStyle/>
          <a:p>
            <a:pPr algn="l"/>
            <a:r>
              <a:rPr sz="2600" b="1" i="0">
                <a:solidFill>
                  <a:srgbClr val="0B3D91"/>
                </a:solidFill>
                <a:latin typeface="Calibri"/>
              </a:rPr>
              <a:t>Welfare institutions are asymmetric in their political effects</a:t>
            </a:r>
          </a:p>
        </p:txBody>
      </p:sp>
      <p:sp>
        <p:nvSpPr>
          <p:cNvPr id="5" name="TextBox 4"/>
          <p:cNvSpPr txBox="1"/>
          <p:nvPr/>
        </p:nvSpPr>
        <p:spPr>
          <a:xfrm>
            <a:off x="640080" y="2194560"/>
            <a:ext cx="10972800" cy="457200"/>
          </a:xfrm>
          <a:prstGeom prst="rect">
            <a:avLst/>
          </a:prstGeom>
          <a:noFill/>
        </p:spPr>
        <p:txBody>
          <a:bodyPr wrap="square">
            <a:spAutoFit/>
          </a:bodyPr>
          <a:lstStyle/>
          <a:p>
            <a:pPr algn="l"/>
            <a:r>
              <a:rPr sz="1800" b="0" i="0">
                <a:solidFill>
                  <a:srgbClr val="1A1A1A"/>
                </a:solidFill>
                <a:latin typeface="Calibri"/>
              </a:rPr>
              <a:t>They can fail politically — by damaging the self-concept of vulnerable workers — through a cascade:</a:t>
            </a:r>
          </a:p>
        </p:txBody>
      </p:sp>
      <p:sp>
        <p:nvSpPr>
          <p:cNvPr id="6" name="Rounded Rectangle 5"/>
          <p:cNvSpPr/>
          <p:nvPr/>
        </p:nvSpPr>
        <p:spPr>
          <a:xfrm>
            <a:off x="640080" y="2926080"/>
            <a:ext cx="3474720" cy="914400"/>
          </a:xfrm>
          <a:prstGeom prst="roundRect">
            <a:avLst/>
          </a:prstGeom>
          <a:solidFill>
            <a:srgbClr val="F6F8FA"/>
          </a:solidFill>
          <a:ln>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r>
              <a:rPr sz="1800" b="1">
                <a:solidFill>
                  <a:srgbClr val="0B3D91"/>
                </a:solidFill>
                <a:latin typeface="Calibri"/>
              </a:rPr>
              <a:t>1. Identity switching</a:t>
            </a:r>
          </a:p>
          <a:p>
            <a:r>
              <a:rPr sz="1300" i="1">
                <a:solidFill>
                  <a:srgbClr val="6C757D"/>
                </a:solidFill>
                <a:latin typeface="Calibri"/>
              </a:rPr>
              <a:t>Bonomi, Gennaioli &amp; Tabellini (2021)</a:t>
            </a:r>
          </a:p>
        </p:txBody>
      </p:sp>
      <p:sp>
        <p:nvSpPr>
          <p:cNvPr id="7" name="Rounded Rectangle 6"/>
          <p:cNvSpPr/>
          <p:nvPr/>
        </p:nvSpPr>
        <p:spPr>
          <a:xfrm>
            <a:off x="4297680" y="2926080"/>
            <a:ext cx="3474720" cy="914400"/>
          </a:xfrm>
          <a:prstGeom prst="roundRect">
            <a:avLst/>
          </a:prstGeom>
          <a:solidFill>
            <a:srgbClr val="F6F8FA"/>
          </a:solidFill>
          <a:ln>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r>
              <a:rPr sz="1800" b="1">
                <a:solidFill>
                  <a:srgbClr val="0B3D91"/>
                </a:solidFill>
                <a:latin typeface="Calibri"/>
              </a:rPr>
              <a:t>2. Misattribution</a:t>
            </a:r>
          </a:p>
          <a:p>
            <a:r>
              <a:rPr sz="1300" i="1">
                <a:solidFill>
                  <a:srgbClr val="6C757D"/>
                </a:solidFill>
                <a:latin typeface="Calibri"/>
              </a:rPr>
              <a:t>Gallego &amp; Kurer (2022)</a:t>
            </a:r>
          </a:p>
        </p:txBody>
      </p:sp>
      <p:sp>
        <p:nvSpPr>
          <p:cNvPr id="8" name="Rounded Rectangle 7"/>
          <p:cNvSpPr/>
          <p:nvPr/>
        </p:nvSpPr>
        <p:spPr>
          <a:xfrm>
            <a:off x="7955279" y="2926080"/>
            <a:ext cx="3474720" cy="914400"/>
          </a:xfrm>
          <a:prstGeom prst="roundRect">
            <a:avLst/>
          </a:prstGeom>
          <a:solidFill>
            <a:srgbClr val="F6F8FA"/>
          </a:solidFill>
          <a:ln>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r>
              <a:rPr sz="1800" b="1">
                <a:solidFill>
                  <a:srgbClr val="0B3D91"/>
                </a:solidFill>
                <a:latin typeface="Calibri"/>
              </a:rPr>
              <a:t>3. Defensive othering</a:t>
            </a:r>
          </a:p>
          <a:p>
            <a:r>
              <a:rPr sz="1300" i="1">
                <a:solidFill>
                  <a:srgbClr val="6C757D"/>
                </a:solidFill>
                <a:latin typeface="Calibri"/>
              </a:rPr>
              <a:t>Wagner (2022); Patrick (2016)</a:t>
            </a:r>
          </a:p>
        </p:txBody>
      </p:sp>
      <p:sp>
        <p:nvSpPr>
          <p:cNvPr id="9" name="TextBox 8"/>
          <p:cNvSpPr txBox="1"/>
          <p:nvPr/>
        </p:nvSpPr>
        <p:spPr>
          <a:xfrm>
            <a:off x="640080" y="4297680"/>
            <a:ext cx="10972800" cy="457200"/>
          </a:xfrm>
          <a:prstGeom prst="rect">
            <a:avLst/>
          </a:prstGeom>
          <a:noFill/>
        </p:spPr>
        <p:txBody>
          <a:bodyPr wrap="square">
            <a:spAutoFit/>
          </a:bodyPr>
          <a:lstStyle/>
          <a:p>
            <a:pPr algn="l"/>
            <a:r>
              <a:rPr sz="2000" b="0" i="1">
                <a:solidFill>
                  <a:srgbClr val="1A1A1A"/>
                </a:solidFill>
                <a:latin typeface="Calibri"/>
              </a:rPr>
              <a:t>They cannot, by symmetric operation, succeed.</a:t>
            </a:r>
          </a:p>
        </p:txBody>
      </p:sp>
      <p:sp>
        <p:nvSpPr>
          <p:cNvPr id="10" name="Rounded Rectangle 9"/>
          <p:cNvSpPr/>
          <p:nvPr/>
        </p:nvSpPr>
        <p:spPr>
          <a:xfrm>
            <a:off x="640080" y="5029200"/>
            <a:ext cx="10881360" cy="1371600"/>
          </a:xfrm>
          <a:prstGeom prst="round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28600" bIns="228600"/>
          <a:lstStyle/>
          <a:p>
            <a:pPr algn="ctr"/>
            <a:r>
              <a:rPr sz="2400" b="1">
                <a:solidFill>
                  <a:srgbClr val="FFFFFF"/>
                </a:solidFill>
                <a:latin typeface="Calibri"/>
              </a:rPr>
              <a:t>Dignity is a baseline good.</a:t>
            </a:r>
          </a:p>
          <a:p>
            <a:pPr algn="ctr"/>
            <a:r>
              <a:rPr sz="1600" i="1">
                <a:solidFill>
                  <a:srgbClr val="FFFFFF"/>
                </a:solidFill>
                <a:latin typeface="Calibri"/>
              </a:rPr>
              <a:t>Its absence damages. Its presence clears the ground for solidarity without producing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Why welfare, and not something else</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972800" cy="1097280"/>
          </a:xfrm>
          <a:prstGeom prst="rect">
            <a:avLst/>
          </a:prstGeom>
          <a:noFill/>
        </p:spPr>
        <p:txBody>
          <a:bodyPr wrap="square">
            <a:spAutoFit/>
          </a:bodyPr>
          <a:lstStyle/>
          <a:p>
            <a:pPr algn="l">
              <a:spcBef>
                <a:spcPts val="600"/>
              </a:spcBef>
              <a:spcAft>
                <a:spcPts val="600"/>
              </a:spcAft>
            </a:pPr>
            <a:r>
              <a:rPr sz="2000">
                <a:solidFill>
                  <a:srgbClr val="1A1A1A"/>
                </a:solidFill>
                <a:latin typeface="Calibri"/>
              </a:rPr>
              <a:t>•  Many institutions shape identity: media environments, religious traditions, class structures</a:t>
            </a:r>
          </a:p>
          <a:p>
            <a:pPr algn="l">
              <a:spcBef>
                <a:spcPts val="600"/>
              </a:spcBef>
              <a:spcAft>
                <a:spcPts val="600"/>
              </a:spcAft>
            </a:pPr>
            <a:r>
              <a:rPr sz="2000">
                <a:solidFill>
                  <a:srgbClr val="1A1A1A"/>
                </a:solidFill>
                <a:latin typeface="Calibri"/>
              </a:rPr>
              <a:t>•  Why isolate welfare?</a:t>
            </a:r>
          </a:p>
        </p:txBody>
      </p:sp>
      <p:sp>
        <p:nvSpPr>
          <p:cNvPr id="5" name="TextBox 4"/>
          <p:cNvSpPr txBox="1"/>
          <p:nvPr/>
        </p:nvSpPr>
        <p:spPr>
          <a:xfrm>
            <a:off x="640080" y="2743200"/>
            <a:ext cx="10972800" cy="548640"/>
          </a:xfrm>
          <a:prstGeom prst="rect">
            <a:avLst/>
          </a:prstGeom>
          <a:noFill/>
        </p:spPr>
        <p:txBody>
          <a:bodyPr wrap="square">
            <a:spAutoFit/>
          </a:bodyPr>
          <a:lstStyle/>
          <a:p>
            <a:pPr algn="l"/>
            <a:r>
              <a:rPr sz="2200" b="1" i="0">
                <a:solidFill>
                  <a:srgbClr val="0B3D91"/>
                </a:solidFill>
                <a:latin typeface="Calibri"/>
              </a:rPr>
              <a:t>Welfare is the single state domain where economic vulnerability and institutional treatment meet at the same moment</a:t>
            </a:r>
          </a:p>
        </p:txBody>
      </p:sp>
      <p:sp>
        <p:nvSpPr>
          <p:cNvPr id="6" name="TextBox 5"/>
          <p:cNvSpPr txBox="1"/>
          <p:nvPr/>
        </p:nvSpPr>
        <p:spPr>
          <a:xfrm>
            <a:off x="640080" y="3657600"/>
            <a:ext cx="10972800" cy="640080"/>
          </a:xfrm>
          <a:prstGeom prst="rect">
            <a:avLst/>
          </a:prstGeom>
          <a:noFill/>
        </p:spPr>
        <p:txBody>
          <a:bodyPr wrap="square">
            <a:spAutoFit/>
          </a:bodyPr>
          <a:lstStyle/>
          <a:p>
            <a:pPr algn="l"/>
            <a:r>
              <a:rPr sz="1700" b="0" i="1">
                <a:solidFill>
                  <a:srgbClr val="1A1A1A"/>
                </a:solidFill>
                <a:latin typeface="Calibri"/>
              </a:rPr>
              <a:t>When a worker encounters the welfare state, the institution allocates resources AND renders judgement about their claim to those resources, in the same act.</a:t>
            </a:r>
          </a:p>
        </p:txBody>
      </p:sp>
      <p:sp>
        <p:nvSpPr>
          <p:cNvPr id="7" name="TextBox 6"/>
          <p:cNvSpPr txBox="1"/>
          <p:nvPr/>
        </p:nvSpPr>
        <p:spPr>
          <a:xfrm>
            <a:off x="640080" y="4572000"/>
            <a:ext cx="10972800" cy="1371600"/>
          </a:xfrm>
          <a:prstGeom prst="rect">
            <a:avLst/>
          </a:prstGeom>
          <a:noFill/>
        </p:spPr>
        <p:txBody>
          <a:bodyPr wrap="square">
            <a:spAutoFit/>
          </a:bodyPr>
          <a:lstStyle/>
          <a:p>
            <a:pPr algn="l">
              <a:spcBef>
                <a:spcPts val="600"/>
              </a:spcBef>
              <a:spcAft>
                <a:spcPts val="600"/>
              </a:spcAft>
            </a:pPr>
            <a:r>
              <a:rPr sz="1600">
                <a:solidFill>
                  <a:srgbClr val="6C757D"/>
                </a:solidFill>
                <a:latin typeface="Calibri"/>
              </a:rPr>
              <a:t>•  Courts judge but rarely allocate</a:t>
            </a:r>
          </a:p>
          <a:p>
            <a:pPr algn="l">
              <a:spcBef>
                <a:spcPts val="600"/>
              </a:spcBef>
              <a:spcAft>
                <a:spcPts val="600"/>
              </a:spcAft>
            </a:pPr>
            <a:r>
              <a:rPr sz="1600">
                <a:solidFill>
                  <a:srgbClr val="6C757D"/>
                </a:solidFill>
                <a:latin typeface="Calibri"/>
              </a:rPr>
              <a:t>•  Markets allocate without judgement</a:t>
            </a:r>
          </a:p>
          <a:p>
            <a:pPr algn="l">
              <a:spcBef>
                <a:spcPts val="600"/>
              </a:spcBef>
              <a:spcAft>
                <a:spcPts val="600"/>
              </a:spcAft>
            </a:pPr>
            <a:r>
              <a:rPr sz="1600">
                <a:solidFill>
                  <a:srgbClr val="6C757D"/>
                </a:solidFill>
                <a:latin typeface="Calibri"/>
              </a:rPr>
              <a:t>•  Religious institutions judge but cannot compel</a:t>
            </a:r>
          </a:p>
        </p:txBody>
      </p:sp>
      <p:sp>
        <p:nvSpPr>
          <p:cNvPr id="8" name="TextBox 7"/>
          <p:cNvSpPr txBox="1"/>
          <p:nvPr/>
        </p:nvSpPr>
        <p:spPr>
          <a:xfrm>
            <a:off x="640080" y="5852160"/>
            <a:ext cx="10972800" cy="548640"/>
          </a:xfrm>
          <a:prstGeom prst="rect">
            <a:avLst/>
          </a:prstGeom>
          <a:noFill/>
        </p:spPr>
        <p:txBody>
          <a:bodyPr wrap="square">
            <a:spAutoFit/>
          </a:bodyPr>
          <a:lstStyle/>
          <a:p>
            <a:pPr algn="l"/>
            <a:r>
              <a:rPr sz="2000" b="1" i="0">
                <a:solidFill>
                  <a:srgbClr val="0B3D91"/>
                </a:solidFill>
                <a:latin typeface="Calibri"/>
              </a:rPr>
              <a:t>Only welfare does both. At the point of maximum material dependence.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The damage cascade</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3657600" cy="457200"/>
          </a:xfrm>
          <a:prstGeom prst="rect">
            <a:avLst/>
          </a:prstGeom>
          <a:noFill/>
        </p:spPr>
        <p:txBody>
          <a:bodyPr wrap="square">
            <a:spAutoFit/>
          </a:bodyPr>
          <a:lstStyle/>
          <a:p>
            <a:pPr algn="l"/>
            <a:r>
              <a:rPr sz="1800" b="1" i="0">
                <a:solidFill>
                  <a:srgbClr val="0B3D91"/>
                </a:solidFill>
                <a:latin typeface="Calibri"/>
              </a:rPr>
              <a:t>1. Identity switches</a:t>
            </a:r>
          </a:p>
        </p:txBody>
      </p:sp>
      <p:sp>
        <p:nvSpPr>
          <p:cNvPr id="5" name="TextBox 4"/>
          <p:cNvSpPr txBox="1"/>
          <p:nvPr/>
        </p:nvSpPr>
        <p:spPr>
          <a:xfrm>
            <a:off x="548640" y="1920240"/>
            <a:ext cx="3657600" cy="3657600"/>
          </a:xfrm>
          <a:prstGeom prst="rect">
            <a:avLst/>
          </a:prstGeom>
          <a:noFill/>
        </p:spPr>
        <p:txBody>
          <a:bodyPr wrap="square">
            <a:spAutoFit/>
          </a:bodyPr>
          <a:lstStyle/>
          <a:p>
            <a:pPr algn="l"/>
            <a:r>
              <a:rPr sz="1300" b="0" i="0">
                <a:solidFill>
                  <a:srgbClr val="1A1A1A"/>
                </a:solidFill>
                <a:latin typeface="Calibri"/>
              </a:rPr>
              <a:t>Bonomi et al. (2021): individuals move from class to cultural identity when class identity is degraded.
Stigmatising welfare implementation degrades class identity DIRECTLY — accelerating the switch.</a:t>
            </a:r>
          </a:p>
        </p:txBody>
      </p:sp>
      <p:sp>
        <p:nvSpPr>
          <p:cNvPr id="6" name="TextBox 5"/>
          <p:cNvSpPr txBox="1"/>
          <p:nvPr/>
        </p:nvSpPr>
        <p:spPr>
          <a:xfrm>
            <a:off x="4389120" y="1371600"/>
            <a:ext cx="3657600" cy="457200"/>
          </a:xfrm>
          <a:prstGeom prst="rect">
            <a:avLst/>
          </a:prstGeom>
          <a:noFill/>
        </p:spPr>
        <p:txBody>
          <a:bodyPr wrap="square">
            <a:spAutoFit/>
          </a:bodyPr>
          <a:lstStyle/>
          <a:p>
            <a:pPr algn="l"/>
            <a:r>
              <a:rPr sz="1800" b="1" i="0">
                <a:solidFill>
                  <a:srgbClr val="0B3D91"/>
                </a:solidFill>
                <a:latin typeface="Calibri"/>
              </a:rPr>
              <a:t>2. Grievances misattribute</a:t>
            </a:r>
          </a:p>
        </p:txBody>
      </p:sp>
      <p:sp>
        <p:nvSpPr>
          <p:cNvPr id="7" name="TextBox 6"/>
          <p:cNvSpPr txBox="1"/>
          <p:nvPr/>
        </p:nvSpPr>
        <p:spPr>
          <a:xfrm>
            <a:off x="4389120" y="1920240"/>
            <a:ext cx="3657600" cy="3657600"/>
          </a:xfrm>
          <a:prstGeom prst="rect">
            <a:avLst/>
          </a:prstGeom>
          <a:noFill/>
        </p:spPr>
        <p:txBody>
          <a:bodyPr wrap="square">
            <a:spAutoFit/>
          </a:bodyPr>
          <a:lstStyle/>
          <a:p>
            <a:pPr algn="l"/>
            <a:r>
              <a:rPr sz="1300" b="0" i="0">
                <a:solidFill>
                  <a:srgbClr val="1A1A1A"/>
                </a:solidFill>
                <a:latin typeface="Calibri"/>
              </a:rPr>
              <a:t>Once cultural identity is in charge, frustration finds available scapegoats.
Wu (2022): workers at higher automation risk oppose immigration but show no different technology preferences.
Misdirection has no protective analogue.</a:t>
            </a:r>
          </a:p>
        </p:txBody>
      </p:sp>
      <p:sp>
        <p:nvSpPr>
          <p:cNvPr id="8" name="TextBox 7"/>
          <p:cNvSpPr txBox="1"/>
          <p:nvPr/>
        </p:nvSpPr>
        <p:spPr>
          <a:xfrm>
            <a:off x="8229600" y="1371600"/>
            <a:ext cx="3657600" cy="457200"/>
          </a:xfrm>
          <a:prstGeom prst="rect">
            <a:avLst/>
          </a:prstGeom>
          <a:noFill/>
        </p:spPr>
        <p:txBody>
          <a:bodyPr wrap="square">
            <a:spAutoFit/>
          </a:bodyPr>
          <a:lstStyle/>
          <a:p>
            <a:pPr algn="l"/>
            <a:r>
              <a:rPr sz="1800" b="1" i="0">
                <a:solidFill>
                  <a:srgbClr val="0B3D91"/>
                </a:solidFill>
                <a:latin typeface="Calibri"/>
              </a:rPr>
              <a:t>3. Othering turns defensive</a:t>
            </a:r>
          </a:p>
        </p:txBody>
      </p:sp>
      <p:sp>
        <p:nvSpPr>
          <p:cNvPr id="9" name="TextBox 8"/>
          <p:cNvSpPr txBox="1"/>
          <p:nvPr/>
        </p:nvSpPr>
        <p:spPr>
          <a:xfrm>
            <a:off x="8229600" y="1920240"/>
            <a:ext cx="3657600" cy="3657600"/>
          </a:xfrm>
          <a:prstGeom prst="rect">
            <a:avLst/>
          </a:prstGeom>
          <a:noFill/>
        </p:spPr>
        <p:txBody>
          <a:bodyPr wrap="square">
            <a:spAutoFit/>
          </a:bodyPr>
          <a:lstStyle/>
          <a:p>
            <a:pPr algn="l"/>
            <a:r>
              <a:rPr sz="1300" b="0" i="0">
                <a:solidFill>
                  <a:srgbClr val="1A1A1A"/>
                </a:solidFill>
                <a:latin typeface="Calibri"/>
              </a:rPr>
              <a:t>Patrick (2016): UK benefit claimants shore up their own deservingness through critique of those below them — using the welfare system's own criteria.
Wagner (2022): 'kicking down'.</a:t>
            </a:r>
          </a:p>
        </p:txBody>
      </p:sp>
      <p:sp>
        <p:nvSpPr>
          <p:cNvPr id="10" name="Rounded Rectangle 9"/>
          <p:cNvSpPr/>
          <p:nvPr/>
        </p:nvSpPr>
        <p:spPr>
          <a:xfrm>
            <a:off x="640080" y="5760720"/>
            <a:ext cx="10881360" cy="777240"/>
          </a:xfrm>
          <a:prstGeom prst="roundRect">
            <a:avLst/>
          </a:prstGeom>
          <a:solidFill>
            <a:srgbClr val="F6F8FA"/>
          </a:solidFill>
          <a:ln>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r>
              <a:rPr sz="1500" b="1">
                <a:solidFill>
                  <a:srgbClr val="0B3D91"/>
                </a:solidFill>
                <a:latin typeface="Calibri"/>
              </a:rPr>
              <a:t>Endpoint (Busemeyer, Rathgeb &amp; Sahm 2023): </a:t>
            </a:r>
            <a:r>
              <a:rPr sz="1500">
                <a:solidFill>
                  <a:srgbClr val="1A1A1A"/>
                </a:solidFill>
                <a:latin typeface="Calibri"/>
              </a:rPr>
              <a:t>the particularistic-authoritarian welfare preference — pro-workfare, anti-poor, anti-social-investment.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Why no mirror image</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972800" cy="548640"/>
          </a:xfrm>
          <a:prstGeom prst="rect">
            <a:avLst/>
          </a:prstGeom>
          <a:noFill/>
        </p:spPr>
        <p:txBody>
          <a:bodyPr wrap="square">
            <a:spAutoFit/>
          </a:bodyPr>
          <a:lstStyle/>
          <a:p>
            <a:pPr algn="l"/>
            <a:r>
              <a:rPr sz="2200" b="1" i="0">
                <a:solidFill>
                  <a:srgbClr val="0B3D91"/>
                </a:solidFill>
                <a:latin typeface="Calibri"/>
              </a:rPr>
              <a:t>Three asymmetries, none with a symmetric counterpart</a:t>
            </a:r>
          </a:p>
        </p:txBody>
      </p:sp>
      <p:sp>
        <p:nvSpPr>
          <p:cNvPr id="5" name="TextBox 4"/>
          <p:cNvSpPr txBox="1"/>
          <p:nvPr/>
        </p:nvSpPr>
        <p:spPr>
          <a:xfrm>
            <a:off x="548640" y="2011680"/>
            <a:ext cx="457200" cy="457200"/>
          </a:xfrm>
          <a:prstGeom prst="rect">
            <a:avLst/>
          </a:prstGeom>
          <a:noFill/>
        </p:spPr>
        <p:txBody>
          <a:bodyPr wrap="square">
            <a:spAutoFit/>
          </a:bodyPr>
          <a:lstStyle/>
          <a:p>
            <a:pPr algn="l"/>
            <a:r>
              <a:rPr sz="2200" b="1" i="0">
                <a:solidFill>
                  <a:srgbClr val="0B3D91"/>
                </a:solidFill>
                <a:latin typeface="Calibri"/>
              </a:rPr>
              <a:t>1.</a:t>
            </a:r>
          </a:p>
        </p:txBody>
      </p:sp>
      <p:sp>
        <p:nvSpPr>
          <p:cNvPr id="6" name="TextBox 5"/>
          <p:cNvSpPr txBox="1"/>
          <p:nvPr/>
        </p:nvSpPr>
        <p:spPr>
          <a:xfrm>
            <a:off x="1005840" y="2011680"/>
            <a:ext cx="10515600" cy="457200"/>
          </a:xfrm>
          <a:prstGeom prst="rect">
            <a:avLst/>
          </a:prstGeom>
          <a:noFill/>
        </p:spPr>
        <p:txBody>
          <a:bodyPr wrap="square">
            <a:spAutoFit/>
          </a:bodyPr>
          <a:lstStyle/>
          <a:p>
            <a:pPr algn="l"/>
            <a:r>
              <a:rPr sz="1800" b="1" i="0">
                <a:solidFill>
                  <a:srgbClr val="0B3D91"/>
                </a:solidFill>
                <a:latin typeface="Calibri"/>
              </a:rPr>
              <a:t>Loss aversion (Kahneman &amp; Tversky 1979)</a:t>
            </a:r>
          </a:p>
        </p:txBody>
      </p:sp>
      <p:sp>
        <p:nvSpPr>
          <p:cNvPr id="7" name="TextBox 6"/>
          <p:cNvSpPr txBox="1"/>
          <p:nvPr/>
        </p:nvSpPr>
        <p:spPr>
          <a:xfrm>
            <a:off x="1005840" y="2468880"/>
            <a:ext cx="10515600" cy="914400"/>
          </a:xfrm>
          <a:prstGeom prst="rect">
            <a:avLst/>
          </a:prstGeom>
          <a:noFill/>
        </p:spPr>
        <p:txBody>
          <a:bodyPr wrap="square">
            <a:spAutoFit/>
          </a:bodyPr>
          <a:lstStyle/>
          <a:p>
            <a:pPr algn="l"/>
            <a:r>
              <a:rPr sz="1400" b="0" i="0">
                <a:solidFill>
                  <a:srgbClr val="1A1A1A"/>
                </a:solidFill>
                <a:latin typeface="Calibri"/>
              </a:rPr>
              <a:t>Stigmatising encounters register as losses; dignity-preserving ones don't register as gains of equivalent magnitude. Damage mobilises; the absence of damage tends not to.</a:t>
            </a:r>
          </a:p>
        </p:txBody>
      </p:sp>
      <p:sp>
        <p:nvSpPr>
          <p:cNvPr id="8" name="TextBox 7"/>
          <p:cNvSpPr txBox="1"/>
          <p:nvPr/>
        </p:nvSpPr>
        <p:spPr>
          <a:xfrm>
            <a:off x="548640" y="3429000"/>
            <a:ext cx="457200" cy="457200"/>
          </a:xfrm>
          <a:prstGeom prst="rect">
            <a:avLst/>
          </a:prstGeom>
          <a:noFill/>
        </p:spPr>
        <p:txBody>
          <a:bodyPr wrap="square">
            <a:spAutoFit/>
          </a:bodyPr>
          <a:lstStyle/>
          <a:p>
            <a:pPr algn="l"/>
            <a:r>
              <a:rPr sz="2200" b="1" i="0">
                <a:solidFill>
                  <a:srgbClr val="0B3D91"/>
                </a:solidFill>
                <a:latin typeface="Calibri"/>
              </a:rPr>
              <a:t>2.</a:t>
            </a:r>
          </a:p>
        </p:txBody>
      </p:sp>
      <p:sp>
        <p:nvSpPr>
          <p:cNvPr id="9" name="TextBox 8"/>
          <p:cNvSpPr txBox="1"/>
          <p:nvPr/>
        </p:nvSpPr>
        <p:spPr>
          <a:xfrm>
            <a:off x="1005840" y="3429000"/>
            <a:ext cx="10515600" cy="457200"/>
          </a:xfrm>
          <a:prstGeom prst="rect">
            <a:avLst/>
          </a:prstGeom>
          <a:noFill/>
        </p:spPr>
        <p:txBody>
          <a:bodyPr wrap="square">
            <a:spAutoFit/>
          </a:bodyPr>
          <a:lstStyle/>
          <a:p>
            <a:pPr algn="l"/>
            <a:r>
              <a:rPr sz="1800" b="1" i="0">
                <a:solidFill>
                  <a:srgbClr val="0B3D91"/>
                </a:solidFill>
                <a:latin typeface="Calibri"/>
              </a:rPr>
              <a:t>Status is positional</a:t>
            </a:r>
          </a:p>
        </p:txBody>
      </p:sp>
      <p:sp>
        <p:nvSpPr>
          <p:cNvPr id="10" name="TextBox 9"/>
          <p:cNvSpPr txBox="1"/>
          <p:nvPr/>
        </p:nvSpPr>
        <p:spPr>
          <a:xfrm>
            <a:off x="1005840" y="3886200"/>
            <a:ext cx="10515600" cy="914400"/>
          </a:xfrm>
          <a:prstGeom prst="rect">
            <a:avLst/>
          </a:prstGeom>
          <a:noFill/>
        </p:spPr>
        <p:txBody>
          <a:bodyPr wrap="square">
            <a:spAutoFit/>
          </a:bodyPr>
          <a:lstStyle/>
          <a:p>
            <a:pPr algn="l"/>
            <a:r>
              <a:rPr sz="1400" b="0" i="0">
                <a:solidFill>
                  <a:srgbClr val="1A1A1A"/>
                </a:solidFill>
                <a:latin typeface="Calibri"/>
              </a:rPr>
              <a:t>Recognition cannot be redistributed without losses to the currently-recognised (Gidron &amp; Hall 2017). Dignity-preserving welfare REMOVES an obstacle to inclusive solidarity. It does not, by itself, CONSTRUCT inclusion.</a:t>
            </a:r>
          </a:p>
        </p:txBody>
      </p:sp>
      <p:sp>
        <p:nvSpPr>
          <p:cNvPr id="11" name="TextBox 10"/>
          <p:cNvSpPr txBox="1"/>
          <p:nvPr/>
        </p:nvSpPr>
        <p:spPr>
          <a:xfrm>
            <a:off x="548640" y="4846320"/>
            <a:ext cx="457200" cy="457200"/>
          </a:xfrm>
          <a:prstGeom prst="rect">
            <a:avLst/>
          </a:prstGeom>
          <a:noFill/>
        </p:spPr>
        <p:txBody>
          <a:bodyPr wrap="square">
            <a:spAutoFit/>
          </a:bodyPr>
          <a:lstStyle/>
          <a:p>
            <a:pPr algn="l"/>
            <a:r>
              <a:rPr sz="2200" b="1" i="0">
                <a:solidFill>
                  <a:srgbClr val="0B3D91"/>
                </a:solidFill>
                <a:latin typeface="Calibri"/>
              </a:rPr>
              <a:t>3.</a:t>
            </a:r>
          </a:p>
        </p:txBody>
      </p:sp>
      <p:sp>
        <p:nvSpPr>
          <p:cNvPr id="12" name="TextBox 11"/>
          <p:cNvSpPr txBox="1"/>
          <p:nvPr/>
        </p:nvSpPr>
        <p:spPr>
          <a:xfrm>
            <a:off x="1005840" y="4846320"/>
            <a:ext cx="10515600" cy="457200"/>
          </a:xfrm>
          <a:prstGeom prst="rect">
            <a:avLst/>
          </a:prstGeom>
          <a:noFill/>
        </p:spPr>
        <p:txBody>
          <a:bodyPr wrap="square">
            <a:spAutoFit/>
          </a:bodyPr>
          <a:lstStyle/>
          <a:p>
            <a:pPr algn="l"/>
            <a:r>
              <a:rPr sz="1800" b="1" i="0">
                <a:solidFill>
                  <a:srgbClr val="0B3D91"/>
                </a:solidFill>
                <a:latin typeface="Calibri"/>
              </a:rPr>
              <a:t>Defensive othering is costly to reverse</a:t>
            </a:r>
          </a:p>
        </p:txBody>
      </p:sp>
      <p:sp>
        <p:nvSpPr>
          <p:cNvPr id="13" name="TextBox 12"/>
          <p:cNvSpPr txBox="1"/>
          <p:nvPr/>
        </p:nvSpPr>
        <p:spPr>
          <a:xfrm>
            <a:off x="1005840" y="5303520"/>
            <a:ext cx="10515600" cy="914400"/>
          </a:xfrm>
          <a:prstGeom prst="rect">
            <a:avLst/>
          </a:prstGeom>
          <a:noFill/>
        </p:spPr>
        <p:txBody>
          <a:bodyPr wrap="square">
            <a:spAutoFit/>
          </a:bodyPr>
          <a:lstStyle/>
          <a:p>
            <a:pPr algn="l"/>
            <a:r>
              <a:rPr sz="1400" b="0" i="0">
                <a:solidFill>
                  <a:srgbClr val="1A1A1A"/>
                </a:solidFill>
                <a:latin typeface="Calibri"/>
              </a:rPr>
              <a:t>Identity investments are not undone by changing the institutional environment alone. Pierson's (1994) positive feedback runs forward into supportive constituencies; the damage cascade runs forward into a population that has forgotten the position it now defends was constructed for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Empirical setup</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5486400" cy="457200"/>
          </a:xfrm>
          <a:prstGeom prst="rect">
            <a:avLst/>
          </a:prstGeom>
          <a:noFill/>
        </p:spPr>
        <p:txBody>
          <a:bodyPr wrap="square">
            <a:spAutoFit/>
          </a:bodyPr>
          <a:lstStyle/>
          <a:p>
            <a:pPr algn="l"/>
            <a:r>
              <a:rPr sz="2000" b="1" i="0">
                <a:solidFill>
                  <a:srgbClr val="0B3D91"/>
                </a:solidFill>
                <a:latin typeface="Calibri"/>
              </a:rPr>
              <a:t>Data</a:t>
            </a:r>
          </a:p>
        </p:txBody>
      </p:sp>
      <p:sp>
        <p:nvSpPr>
          <p:cNvPr id="5" name="TextBox 4"/>
          <p:cNvSpPr txBox="1"/>
          <p:nvPr/>
        </p:nvSpPr>
        <p:spPr>
          <a:xfrm>
            <a:off x="640080" y="1828800"/>
            <a:ext cx="5486400" cy="2743200"/>
          </a:xfrm>
          <a:prstGeom prst="rect">
            <a:avLst/>
          </a:prstGeom>
          <a:noFill/>
        </p:spPr>
        <p:txBody>
          <a:bodyPr wrap="square">
            <a:spAutoFit/>
          </a:bodyPr>
          <a:lstStyle/>
          <a:p>
            <a:pPr algn="l">
              <a:spcBef>
                <a:spcPts val="600"/>
              </a:spcBef>
              <a:spcAft>
                <a:spcPts val="600"/>
              </a:spcAft>
            </a:pPr>
            <a:r>
              <a:rPr sz="1500">
                <a:solidFill>
                  <a:srgbClr val="1A1A1A"/>
                </a:solidFill>
                <a:latin typeface="Calibri"/>
              </a:rPr>
              <a:t>•  European Social Survey rounds 6–9 (2012–2018)</a:t>
            </a:r>
          </a:p>
          <a:p>
            <a:pPr algn="l">
              <a:spcBef>
                <a:spcPts val="600"/>
              </a:spcBef>
              <a:spcAft>
                <a:spcPts val="600"/>
              </a:spcAft>
            </a:pPr>
            <a:r>
              <a:rPr sz="1500">
                <a:solidFill>
                  <a:srgbClr val="1A1A1A"/>
                </a:solidFill>
                <a:latin typeface="Calibri"/>
              </a:rPr>
              <a:t>•  34 countries, N = 188,764</a:t>
            </a:r>
          </a:p>
          <a:p>
            <a:pPr algn="l">
              <a:spcBef>
                <a:spcPts val="600"/>
              </a:spcBef>
              <a:spcAft>
                <a:spcPts val="600"/>
              </a:spcAft>
            </a:pPr>
            <a:r>
              <a:rPr sz="1500">
                <a:solidFill>
                  <a:srgbClr val="1A1A1A"/>
                </a:solidFill>
                <a:latin typeface="Calibri"/>
              </a:rPr>
              <a:t>•  15 Western European countries (CWED welfare-quality analysis)</a:t>
            </a:r>
          </a:p>
        </p:txBody>
      </p:sp>
      <p:sp>
        <p:nvSpPr>
          <p:cNvPr id="6" name="TextBox 5"/>
          <p:cNvSpPr txBox="1"/>
          <p:nvPr/>
        </p:nvSpPr>
        <p:spPr>
          <a:xfrm>
            <a:off x="640080" y="4114800"/>
            <a:ext cx="5486400" cy="457200"/>
          </a:xfrm>
          <a:prstGeom prst="rect">
            <a:avLst/>
          </a:prstGeom>
          <a:noFill/>
        </p:spPr>
        <p:txBody>
          <a:bodyPr wrap="square">
            <a:spAutoFit/>
          </a:bodyPr>
          <a:lstStyle/>
          <a:p>
            <a:pPr algn="l"/>
            <a:r>
              <a:rPr sz="2000" b="1" i="0">
                <a:solidFill>
                  <a:srgbClr val="0B3D91"/>
                </a:solidFill>
                <a:latin typeface="Calibri"/>
              </a:rPr>
              <a:t>Key variables</a:t>
            </a:r>
          </a:p>
        </p:txBody>
      </p:sp>
      <p:sp>
        <p:nvSpPr>
          <p:cNvPr id="7" name="TextBox 6"/>
          <p:cNvSpPr txBox="1"/>
          <p:nvPr/>
        </p:nvSpPr>
        <p:spPr>
          <a:xfrm>
            <a:off x="640080" y="4572000"/>
            <a:ext cx="5486400" cy="2286000"/>
          </a:xfrm>
          <a:prstGeom prst="rect">
            <a:avLst/>
          </a:prstGeom>
          <a:noFill/>
        </p:spPr>
        <p:txBody>
          <a:bodyPr wrap="square">
            <a:spAutoFit/>
          </a:bodyPr>
          <a:lstStyle/>
          <a:p>
            <a:pPr algn="l">
              <a:spcBef>
                <a:spcPts val="600"/>
              </a:spcBef>
              <a:spcAft>
                <a:spcPts val="600"/>
              </a:spcAft>
            </a:pPr>
            <a:r>
              <a:rPr sz="1500">
                <a:solidFill>
                  <a:srgbClr val="1A1A1A"/>
                </a:solidFill>
                <a:latin typeface="Calibri"/>
              </a:rPr>
              <a:t>•  RTI: routine task intensity (Goos, Manning &amp; Salomons 2014)</a:t>
            </a:r>
          </a:p>
          <a:p>
            <a:pPr algn="l">
              <a:spcBef>
                <a:spcPts val="600"/>
              </a:spcBef>
              <a:spcAft>
                <a:spcPts val="600"/>
              </a:spcAft>
            </a:pPr>
            <a:r>
              <a:rPr sz="1500">
                <a:solidFill>
                  <a:srgbClr val="1A1A1A"/>
                </a:solidFill>
                <a:latin typeface="Calibri"/>
              </a:rPr>
              <a:t>•  Anti-immigration: 3-item index (α = 0.864)</a:t>
            </a:r>
          </a:p>
          <a:p>
            <a:pPr algn="l">
              <a:spcBef>
                <a:spcPts val="600"/>
              </a:spcBef>
              <a:spcAft>
                <a:spcPts val="600"/>
              </a:spcAft>
            </a:pPr>
            <a:r>
              <a:rPr sz="1500">
                <a:solidFill>
                  <a:srgbClr val="1A1A1A"/>
                </a:solidFill>
                <a:latin typeface="Calibri"/>
              </a:rPr>
              <a:t>•  Welfare context: regimes; ALMP spending; CWED decommodification</a:t>
            </a:r>
          </a:p>
        </p:txBody>
      </p:sp>
      <p:sp>
        <p:nvSpPr>
          <p:cNvPr id="8" name="TextBox 7"/>
          <p:cNvSpPr txBox="1"/>
          <p:nvPr/>
        </p:nvSpPr>
        <p:spPr>
          <a:xfrm>
            <a:off x="6400800" y="1280160"/>
            <a:ext cx="5486400" cy="457200"/>
          </a:xfrm>
          <a:prstGeom prst="rect">
            <a:avLst/>
          </a:prstGeom>
          <a:noFill/>
        </p:spPr>
        <p:txBody>
          <a:bodyPr wrap="square">
            <a:spAutoFit/>
          </a:bodyPr>
          <a:lstStyle/>
          <a:p>
            <a:pPr algn="l"/>
            <a:r>
              <a:rPr sz="2000" b="1" i="0">
                <a:solidFill>
                  <a:srgbClr val="0B3D91"/>
                </a:solidFill>
                <a:latin typeface="Calibri"/>
              </a:rPr>
              <a:t>Approach</a:t>
            </a:r>
          </a:p>
        </p:txBody>
      </p:sp>
      <p:sp>
        <p:nvSpPr>
          <p:cNvPr id="9" name="TextBox 8"/>
          <p:cNvSpPr txBox="1"/>
          <p:nvPr/>
        </p:nvSpPr>
        <p:spPr>
          <a:xfrm>
            <a:off x="6400800" y="1828800"/>
            <a:ext cx="5486400" cy="4572000"/>
          </a:xfrm>
          <a:prstGeom prst="rect">
            <a:avLst/>
          </a:prstGeom>
          <a:noFill/>
        </p:spPr>
        <p:txBody>
          <a:bodyPr wrap="square">
            <a:spAutoFit/>
          </a:bodyPr>
          <a:lstStyle/>
          <a:p>
            <a:pPr algn="l">
              <a:spcBef>
                <a:spcPts val="600"/>
              </a:spcBef>
              <a:spcAft>
                <a:spcPts val="600"/>
              </a:spcAft>
            </a:pPr>
            <a:r>
              <a:rPr sz="1500">
                <a:solidFill>
                  <a:srgbClr val="1A1A1A"/>
                </a:solidFill>
                <a:latin typeface="Calibri"/>
              </a:rPr>
              <a:t>•  Cross-level interactions: RTI × Welfare → attitudes</a:t>
            </a:r>
          </a:p>
          <a:p>
            <a:pPr algn="l">
              <a:spcBef>
                <a:spcPts val="600"/>
              </a:spcBef>
              <a:spcAft>
                <a:spcPts val="600"/>
              </a:spcAft>
            </a:pPr>
            <a:r>
              <a:rPr sz="1500">
                <a:solidFill>
                  <a:srgbClr val="1A1A1A"/>
                </a:solidFill>
                <a:latin typeface="Calibri"/>
              </a:rPr>
              <a:t>•  Country-wave fixed effects, cluster-robust SEs</a:t>
            </a:r>
          </a:p>
          <a:p>
            <a:pPr algn="l">
              <a:spcBef>
                <a:spcPts val="600"/>
              </a:spcBef>
              <a:spcAft>
                <a:spcPts val="600"/>
              </a:spcAft>
            </a:pPr>
            <a:r>
              <a:rPr sz="1500">
                <a:solidFill>
                  <a:srgbClr val="1A1A1A"/>
                </a:solidFill>
                <a:latin typeface="Calibri"/>
              </a:rPr>
              <a:t>•  Random-slope mixed models for cross-national heterogeneity</a:t>
            </a:r>
          </a:p>
          <a:p>
            <a:pPr algn="l">
              <a:spcBef>
                <a:spcPts val="600"/>
              </a:spcBef>
              <a:spcAft>
                <a:spcPts val="600"/>
              </a:spcAft>
            </a:pPr>
            <a:r>
              <a:rPr sz="1500">
                <a:solidFill>
                  <a:srgbClr val="1A1A1A"/>
                </a:solidFill>
                <a:latin typeface="Calibri"/>
              </a:rPr>
              <a:t>•  15-country matched sample for ALMP/CWED comparison</a:t>
            </a:r>
          </a:p>
          <a:p>
            <a:pPr algn="l">
              <a:spcBef>
                <a:spcPts val="600"/>
              </a:spcBef>
              <a:spcAft>
                <a:spcPts val="600"/>
              </a:spcAft>
            </a:pPr>
            <a:r>
              <a:rPr sz="1500">
                <a:solidFill>
                  <a:srgbClr val="1A1A1A"/>
                </a:solidFill>
                <a:latin typeface="Calibri"/>
              </a:rPr>
              <a:t>•  Cross-sectional design — claim is consistency, not causation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ALMP vs CWED — the headline</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6_cwed_country_slopes.png"/>
          <p:cNvPicPr>
            <a:picLocks noChangeAspect="1"/>
          </p:cNvPicPr>
          <p:nvPr/>
        </p:nvPicPr>
        <p:blipFill>
          <a:blip r:embed="rId2"/>
          <a:stretch>
            <a:fillRect/>
          </a:stretch>
        </p:blipFill>
        <p:spPr>
          <a:xfrm>
            <a:off x="1828800" y="1188720"/>
            <a:ext cx="8503920" cy="4114800"/>
          </a:xfrm>
          <a:prstGeom prst="rect">
            <a:avLst/>
          </a:prstGeom>
        </p:spPr>
      </p:pic>
      <p:sp>
        <p:nvSpPr>
          <p:cNvPr id="5" name="TextBox 4"/>
          <p:cNvSpPr txBox="1"/>
          <p:nvPr/>
        </p:nvSpPr>
        <p:spPr>
          <a:xfrm>
            <a:off x="640080" y="5486400"/>
            <a:ext cx="10972800" cy="365760"/>
          </a:xfrm>
          <a:prstGeom prst="rect">
            <a:avLst/>
          </a:prstGeom>
          <a:noFill/>
        </p:spPr>
        <p:txBody>
          <a:bodyPr wrap="square">
            <a:spAutoFit/>
          </a:bodyPr>
          <a:lstStyle/>
          <a:p>
            <a:pPr algn="l"/>
            <a:r>
              <a:rPr sz="1600" b="1" i="0">
                <a:solidFill>
                  <a:srgbClr val="1A1A1A"/>
                </a:solidFill>
                <a:latin typeface="Calibri"/>
              </a:rPr>
              <a:t>Same 15 countries, two welfare measures:</a:t>
            </a:r>
          </a:p>
        </p:txBody>
      </p:sp>
      <p:sp>
        <p:nvSpPr>
          <p:cNvPr id="6" name="TextBox 5"/>
          <p:cNvSpPr txBox="1"/>
          <p:nvPr/>
        </p:nvSpPr>
        <p:spPr>
          <a:xfrm>
            <a:off x="640080" y="5943600"/>
            <a:ext cx="11430000" cy="914400"/>
          </a:xfrm>
          <a:prstGeom prst="rect">
            <a:avLst/>
          </a:prstGeom>
          <a:noFill/>
        </p:spPr>
        <p:txBody>
          <a:bodyPr wrap="square">
            <a:spAutoFit/>
          </a:bodyPr>
          <a:lstStyle/>
          <a:p>
            <a:pPr algn="l">
              <a:spcBef>
                <a:spcPts val="600"/>
              </a:spcBef>
              <a:spcAft>
                <a:spcPts val="600"/>
              </a:spcAft>
            </a:pPr>
            <a:r>
              <a:rPr sz="1500">
                <a:solidFill>
                  <a:srgbClr val="1A1A1A"/>
                </a:solidFill>
                <a:latin typeface="Calibri"/>
              </a:rPr>
              <a:t>•  ALMP spending:  r = +0.01 (n.s.)  →  spending effort doesn't predict the slope</a:t>
            </a:r>
          </a:p>
          <a:p>
            <a:pPr algn="l">
              <a:spcBef>
                <a:spcPts val="600"/>
              </a:spcBef>
              <a:spcAft>
                <a:spcPts val="600"/>
              </a:spcAft>
            </a:pPr>
            <a:r>
              <a:rPr sz="1500">
                <a:solidFill>
                  <a:srgbClr val="1A1A1A"/>
                </a:solidFill>
                <a:latin typeface="Calibri"/>
              </a:rPr>
              <a:t>•  CWED decommodification:  r = −0.85 (p&lt;0.001)  →  72 per cent of cross-national variation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Decomposition: which decommodification dimension matters?</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7_cwed_subcomponents.png"/>
          <p:cNvPicPr>
            <a:picLocks noChangeAspect="1"/>
          </p:cNvPicPr>
          <p:nvPr/>
        </p:nvPicPr>
        <p:blipFill>
          <a:blip r:embed="rId2"/>
          <a:stretch>
            <a:fillRect/>
          </a:stretch>
        </p:blipFill>
        <p:spPr>
          <a:xfrm>
            <a:off x="457200" y="1188720"/>
            <a:ext cx="6858000" cy="3200400"/>
          </a:xfrm>
          <a:prstGeom prst="rect">
            <a:avLst/>
          </a:prstGeom>
        </p:spPr>
      </p:pic>
      <p:sp>
        <p:nvSpPr>
          <p:cNvPr id="5" name="TextBox 4"/>
          <p:cNvSpPr txBox="1"/>
          <p:nvPr/>
        </p:nvSpPr>
        <p:spPr>
          <a:xfrm>
            <a:off x="7589520" y="1188720"/>
            <a:ext cx="4114800" cy="457200"/>
          </a:xfrm>
          <a:prstGeom prst="rect">
            <a:avLst/>
          </a:prstGeom>
          <a:noFill/>
        </p:spPr>
        <p:txBody>
          <a:bodyPr wrap="square">
            <a:spAutoFit/>
          </a:bodyPr>
          <a:lstStyle/>
          <a:p>
            <a:pPr algn="l"/>
            <a:r>
              <a:rPr sz="1500" b="1" i="0">
                <a:solidFill>
                  <a:srgbClr val="0B3D91"/>
                </a:solidFill>
                <a:latin typeface="Calibri"/>
              </a:rPr>
              <a:t>Individual-level interactions</a:t>
            </a:r>
          </a:p>
        </p:txBody>
      </p:sp>
      <p:sp>
        <p:nvSpPr>
          <p:cNvPr id="6" name="TextBox 5"/>
          <p:cNvSpPr txBox="1"/>
          <p:nvPr/>
        </p:nvSpPr>
        <p:spPr>
          <a:xfrm>
            <a:off x="7589520" y="1691640"/>
            <a:ext cx="1554480" cy="320040"/>
          </a:xfrm>
          <a:prstGeom prst="rect">
            <a:avLst/>
          </a:prstGeom>
          <a:noFill/>
        </p:spPr>
        <p:txBody>
          <a:bodyPr wrap="square">
            <a:spAutoFit/>
          </a:bodyPr>
          <a:lstStyle/>
          <a:p>
            <a:pPr algn="l"/>
            <a:r>
              <a:rPr sz="1300" b="1" i="0">
                <a:solidFill>
                  <a:srgbClr val="0B3D91"/>
                </a:solidFill>
                <a:latin typeface="Calibri"/>
              </a:rPr>
              <a:t>Component</a:t>
            </a:r>
          </a:p>
        </p:txBody>
      </p:sp>
      <p:sp>
        <p:nvSpPr>
          <p:cNvPr id="7" name="TextBox 6"/>
          <p:cNvSpPr txBox="1"/>
          <p:nvPr/>
        </p:nvSpPr>
        <p:spPr>
          <a:xfrm>
            <a:off x="9144000" y="1691640"/>
            <a:ext cx="914400" cy="320040"/>
          </a:xfrm>
          <a:prstGeom prst="rect">
            <a:avLst/>
          </a:prstGeom>
          <a:noFill/>
        </p:spPr>
        <p:txBody>
          <a:bodyPr wrap="square">
            <a:spAutoFit/>
          </a:bodyPr>
          <a:lstStyle/>
          <a:p>
            <a:pPr algn="l"/>
            <a:r>
              <a:rPr sz="1300" b="1" i="0">
                <a:solidFill>
                  <a:srgbClr val="0B3D91"/>
                </a:solidFill>
                <a:latin typeface="Calibri"/>
              </a:rPr>
              <a:t>β</a:t>
            </a:r>
          </a:p>
        </p:txBody>
      </p:sp>
      <p:sp>
        <p:nvSpPr>
          <p:cNvPr id="8" name="TextBox 7"/>
          <p:cNvSpPr txBox="1"/>
          <p:nvPr/>
        </p:nvSpPr>
        <p:spPr>
          <a:xfrm>
            <a:off x="10058400" y="1691640"/>
            <a:ext cx="1554480" cy="320040"/>
          </a:xfrm>
          <a:prstGeom prst="rect">
            <a:avLst/>
          </a:prstGeom>
          <a:noFill/>
        </p:spPr>
        <p:txBody>
          <a:bodyPr wrap="square">
            <a:spAutoFit/>
          </a:bodyPr>
          <a:lstStyle/>
          <a:p>
            <a:pPr algn="l"/>
            <a:r>
              <a:rPr sz="1300" b="1" i="0">
                <a:solidFill>
                  <a:srgbClr val="0B3D91"/>
                </a:solidFill>
                <a:latin typeface="Calibri"/>
              </a:rPr>
              <a:t>p</a:t>
            </a:r>
          </a:p>
        </p:txBody>
      </p:sp>
      <p:sp>
        <p:nvSpPr>
          <p:cNvPr id="9" name="TextBox 8"/>
          <p:cNvSpPr txBox="1"/>
          <p:nvPr/>
        </p:nvSpPr>
        <p:spPr>
          <a:xfrm>
            <a:off x="7589520" y="2057400"/>
            <a:ext cx="1554480" cy="320040"/>
          </a:xfrm>
          <a:prstGeom prst="rect">
            <a:avLst/>
          </a:prstGeom>
          <a:noFill/>
        </p:spPr>
        <p:txBody>
          <a:bodyPr wrap="square">
            <a:spAutoFit/>
          </a:bodyPr>
          <a:lstStyle/>
          <a:p>
            <a:pPr algn="l"/>
            <a:r>
              <a:rPr sz="1300" b="1" i="0">
                <a:solidFill>
                  <a:srgbClr val="0B3D91"/>
                </a:solidFill>
                <a:latin typeface="Calibri"/>
              </a:rPr>
              <a:t>Unemployment</a:t>
            </a:r>
          </a:p>
        </p:txBody>
      </p:sp>
      <p:sp>
        <p:nvSpPr>
          <p:cNvPr id="10" name="TextBox 9"/>
          <p:cNvSpPr txBox="1"/>
          <p:nvPr/>
        </p:nvSpPr>
        <p:spPr>
          <a:xfrm>
            <a:off x="9144000" y="2057400"/>
            <a:ext cx="914400" cy="320040"/>
          </a:xfrm>
          <a:prstGeom prst="rect">
            <a:avLst/>
          </a:prstGeom>
          <a:noFill/>
        </p:spPr>
        <p:txBody>
          <a:bodyPr wrap="square">
            <a:spAutoFit/>
          </a:bodyPr>
          <a:lstStyle/>
          <a:p>
            <a:pPr algn="l"/>
            <a:r>
              <a:rPr sz="1300" b="1" i="0">
                <a:solidFill>
                  <a:srgbClr val="0B3D91"/>
                </a:solidFill>
                <a:latin typeface="Calibri"/>
              </a:rPr>
              <a:t>−0.053</a:t>
            </a:r>
          </a:p>
        </p:txBody>
      </p:sp>
      <p:sp>
        <p:nvSpPr>
          <p:cNvPr id="11" name="TextBox 10"/>
          <p:cNvSpPr txBox="1"/>
          <p:nvPr/>
        </p:nvSpPr>
        <p:spPr>
          <a:xfrm>
            <a:off x="10058400" y="2057400"/>
            <a:ext cx="1554480" cy="320040"/>
          </a:xfrm>
          <a:prstGeom prst="rect">
            <a:avLst/>
          </a:prstGeom>
          <a:noFill/>
        </p:spPr>
        <p:txBody>
          <a:bodyPr wrap="square">
            <a:spAutoFit/>
          </a:bodyPr>
          <a:lstStyle/>
          <a:p>
            <a:pPr algn="l"/>
            <a:r>
              <a:rPr sz="1300" b="1" i="0">
                <a:solidFill>
                  <a:srgbClr val="0B3D91"/>
                </a:solidFill>
                <a:latin typeface="Calibri"/>
              </a:rPr>
              <a:t>&lt;0.001 ★</a:t>
            </a:r>
          </a:p>
        </p:txBody>
      </p:sp>
      <p:sp>
        <p:nvSpPr>
          <p:cNvPr id="12" name="TextBox 11"/>
          <p:cNvSpPr txBox="1"/>
          <p:nvPr/>
        </p:nvSpPr>
        <p:spPr>
          <a:xfrm>
            <a:off x="7589520" y="2423160"/>
            <a:ext cx="1554480" cy="320040"/>
          </a:xfrm>
          <a:prstGeom prst="rect">
            <a:avLst/>
          </a:prstGeom>
          <a:noFill/>
        </p:spPr>
        <p:txBody>
          <a:bodyPr wrap="square">
            <a:spAutoFit/>
          </a:bodyPr>
          <a:lstStyle/>
          <a:p>
            <a:pPr algn="l"/>
            <a:r>
              <a:rPr sz="1300" b="0" i="0">
                <a:solidFill>
                  <a:srgbClr val="1A1A1A"/>
                </a:solidFill>
                <a:latin typeface="Calibri"/>
              </a:rPr>
              <a:t>Sickness</a:t>
            </a:r>
          </a:p>
        </p:txBody>
      </p:sp>
      <p:sp>
        <p:nvSpPr>
          <p:cNvPr id="13" name="TextBox 12"/>
          <p:cNvSpPr txBox="1"/>
          <p:nvPr/>
        </p:nvSpPr>
        <p:spPr>
          <a:xfrm>
            <a:off x="9144000" y="2423160"/>
            <a:ext cx="914400" cy="320040"/>
          </a:xfrm>
          <a:prstGeom prst="rect">
            <a:avLst/>
          </a:prstGeom>
          <a:noFill/>
        </p:spPr>
        <p:txBody>
          <a:bodyPr wrap="square">
            <a:spAutoFit/>
          </a:bodyPr>
          <a:lstStyle/>
          <a:p>
            <a:pPr algn="l"/>
            <a:r>
              <a:rPr sz="1300" b="0" i="0">
                <a:solidFill>
                  <a:srgbClr val="1A1A1A"/>
                </a:solidFill>
                <a:latin typeface="Calibri"/>
              </a:rPr>
              <a:t>−0.037</a:t>
            </a:r>
          </a:p>
        </p:txBody>
      </p:sp>
      <p:sp>
        <p:nvSpPr>
          <p:cNvPr id="14" name="TextBox 13"/>
          <p:cNvSpPr txBox="1"/>
          <p:nvPr/>
        </p:nvSpPr>
        <p:spPr>
          <a:xfrm>
            <a:off x="10058400" y="2423160"/>
            <a:ext cx="1554480" cy="320040"/>
          </a:xfrm>
          <a:prstGeom prst="rect">
            <a:avLst/>
          </a:prstGeom>
          <a:noFill/>
        </p:spPr>
        <p:txBody>
          <a:bodyPr wrap="square">
            <a:spAutoFit/>
          </a:bodyPr>
          <a:lstStyle/>
          <a:p>
            <a:pPr algn="l"/>
            <a:r>
              <a:rPr sz="1300" b="0" i="0">
                <a:solidFill>
                  <a:srgbClr val="1A1A1A"/>
                </a:solidFill>
                <a:latin typeface="Calibri"/>
              </a:rPr>
              <a:t>0.003</a:t>
            </a:r>
          </a:p>
        </p:txBody>
      </p:sp>
      <p:sp>
        <p:nvSpPr>
          <p:cNvPr id="15" name="TextBox 14"/>
          <p:cNvSpPr txBox="1"/>
          <p:nvPr/>
        </p:nvSpPr>
        <p:spPr>
          <a:xfrm>
            <a:off x="7589520" y="2788920"/>
            <a:ext cx="1554480" cy="320040"/>
          </a:xfrm>
          <a:prstGeom prst="rect">
            <a:avLst/>
          </a:prstGeom>
          <a:noFill/>
        </p:spPr>
        <p:txBody>
          <a:bodyPr wrap="square">
            <a:spAutoFit/>
          </a:bodyPr>
          <a:lstStyle/>
          <a:p>
            <a:pPr algn="l"/>
            <a:r>
              <a:rPr sz="1300" b="0" i="0">
                <a:solidFill>
                  <a:srgbClr val="1A1A1A"/>
                </a:solidFill>
                <a:latin typeface="Calibri"/>
              </a:rPr>
              <a:t>Pensions</a:t>
            </a:r>
          </a:p>
        </p:txBody>
      </p:sp>
      <p:sp>
        <p:nvSpPr>
          <p:cNvPr id="16" name="TextBox 15"/>
          <p:cNvSpPr txBox="1"/>
          <p:nvPr/>
        </p:nvSpPr>
        <p:spPr>
          <a:xfrm>
            <a:off x="9144000" y="2788920"/>
            <a:ext cx="914400" cy="320040"/>
          </a:xfrm>
          <a:prstGeom prst="rect">
            <a:avLst/>
          </a:prstGeom>
          <a:noFill/>
        </p:spPr>
        <p:txBody>
          <a:bodyPr wrap="square">
            <a:spAutoFit/>
          </a:bodyPr>
          <a:lstStyle/>
          <a:p>
            <a:pPr algn="l"/>
            <a:r>
              <a:rPr sz="1300" b="0" i="0">
                <a:solidFill>
                  <a:srgbClr val="1A1A1A"/>
                </a:solidFill>
                <a:latin typeface="Calibri"/>
              </a:rPr>
              <a:t>−0.019</a:t>
            </a:r>
          </a:p>
        </p:txBody>
      </p:sp>
      <p:sp>
        <p:nvSpPr>
          <p:cNvPr id="17" name="TextBox 16"/>
          <p:cNvSpPr txBox="1"/>
          <p:nvPr/>
        </p:nvSpPr>
        <p:spPr>
          <a:xfrm>
            <a:off x="10058400" y="2788920"/>
            <a:ext cx="1554480" cy="320040"/>
          </a:xfrm>
          <a:prstGeom prst="rect">
            <a:avLst/>
          </a:prstGeom>
          <a:noFill/>
        </p:spPr>
        <p:txBody>
          <a:bodyPr wrap="square">
            <a:spAutoFit/>
          </a:bodyPr>
          <a:lstStyle/>
          <a:p>
            <a:pPr algn="l"/>
            <a:r>
              <a:rPr sz="1300" b="0" i="0">
                <a:solidFill>
                  <a:srgbClr val="1A1A1A"/>
                </a:solidFill>
                <a:latin typeface="Calibri"/>
              </a:rPr>
              <a:t>0.066</a:t>
            </a:r>
          </a:p>
        </p:txBody>
      </p:sp>
      <p:sp>
        <p:nvSpPr>
          <p:cNvPr id="18" name="TextBox 17"/>
          <p:cNvSpPr txBox="1"/>
          <p:nvPr/>
        </p:nvSpPr>
        <p:spPr>
          <a:xfrm>
            <a:off x="7589520" y="3154679"/>
            <a:ext cx="1554480" cy="320040"/>
          </a:xfrm>
          <a:prstGeom prst="rect">
            <a:avLst/>
          </a:prstGeom>
          <a:noFill/>
        </p:spPr>
        <p:txBody>
          <a:bodyPr wrap="square">
            <a:spAutoFit/>
          </a:bodyPr>
          <a:lstStyle/>
          <a:p>
            <a:pPr algn="l"/>
            <a:r>
              <a:rPr sz="1300" b="0" i="0">
                <a:solidFill>
                  <a:srgbClr val="1A1A1A"/>
                </a:solidFill>
                <a:latin typeface="Calibri"/>
              </a:rPr>
              <a:t>Composite</a:t>
            </a:r>
          </a:p>
        </p:txBody>
      </p:sp>
      <p:sp>
        <p:nvSpPr>
          <p:cNvPr id="19" name="TextBox 18"/>
          <p:cNvSpPr txBox="1"/>
          <p:nvPr/>
        </p:nvSpPr>
        <p:spPr>
          <a:xfrm>
            <a:off x="9144000" y="3154679"/>
            <a:ext cx="914400" cy="320040"/>
          </a:xfrm>
          <a:prstGeom prst="rect">
            <a:avLst/>
          </a:prstGeom>
          <a:noFill/>
        </p:spPr>
        <p:txBody>
          <a:bodyPr wrap="square">
            <a:spAutoFit/>
          </a:bodyPr>
          <a:lstStyle/>
          <a:p>
            <a:pPr algn="l"/>
            <a:r>
              <a:rPr sz="1300" b="0" i="0">
                <a:solidFill>
                  <a:srgbClr val="1A1A1A"/>
                </a:solidFill>
                <a:latin typeface="Calibri"/>
              </a:rPr>
              <a:t>−0.051</a:t>
            </a:r>
          </a:p>
        </p:txBody>
      </p:sp>
      <p:sp>
        <p:nvSpPr>
          <p:cNvPr id="20" name="TextBox 19"/>
          <p:cNvSpPr txBox="1"/>
          <p:nvPr/>
        </p:nvSpPr>
        <p:spPr>
          <a:xfrm>
            <a:off x="10058400" y="3154679"/>
            <a:ext cx="1554480" cy="320040"/>
          </a:xfrm>
          <a:prstGeom prst="rect">
            <a:avLst/>
          </a:prstGeom>
          <a:noFill/>
        </p:spPr>
        <p:txBody>
          <a:bodyPr wrap="square">
            <a:spAutoFit/>
          </a:bodyPr>
          <a:lstStyle/>
          <a:p>
            <a:pPr algn="l"/>
            <a:r>
              <a:rPr sz="1300" b="0" i="0">
                <a:solidFill>
                  <a:srgbClr val="1A1A1A"/>
                </a:solidFill>
                <a:latin typeface="Calibri"/>
              </a:rPr>
              <a:t>&lt;0.001</a:t>
            </a:r>
          </a:p>
        </p:txBody>
      </p:sp>
      <p:sp>
        <p:nvSpPr>
          <p:cNvPr id="21" name="TextBox 20"/>
          <p:cNvSpPr txBox="1"/>
          <p:nvPr/>
        </p:nvSpPr>
        <p:spPr>
          <a:xfrm>
            <a:off x="640080" y="4754880"/>
            <a:ext cx="10972800" cy="411480"/>
          </a:xfrm>
          <a:prstGeom prst="rect">
            <a:avLst/>
          </a:prstGeom>
          <a:noFill/>
        </p:spPr>
        <p:txBody>
          <a:bodyPr wrap="square">
            <a:spAutoFit/>
          </a:bodyPr>
          <a:lstStyle/>
          <a:p>
            <a:pPr algn="l"/>
            <a:r>
              <a:rPr sz="1500" b="0" i="1">
                <a:solidFill>
                  <a:srgbClr val="6C757D"/>
                </a:solidFill>
                <a:latin typeface="Calibri"/>
              </a:rPr>
              <a:t>Predicted ordering: UE &gt; SK &gt; PEN.</a:t>
            </a:r>
          </a:p>
        </p:txBody>
      </p:sp>
      <p:sp>
        <p:nvSpPr>
          <p:cNvPr id="22" name="TextBox 21"/>
          <p:cNvSpPr txBox="1"/>
          <p:nvPr/>
        </p:nvSpPr>
        <p:spPr>
          <a:xfrm>
            <a:off x="640080" y="5166360"/>
            <a:ext cx="10972800" cy="411480"/>
          </a:xfrm>
          <a:prstGeom prst="rect">
            <a:avLst/>
          </a:prstGeom>
          <a:noFill/>
        </p:spPr>
        <p:txBody>
          <a:bodyPr wrap="square">
            <a:spAutoFit/>
          </a:bodyPr>
          <a:lstStyle/>
          <a:p>
            <a:pPr algn="l"/>
            <a:r>
              <a:rPr sz="1600" b="1" i="0">
                <a:solidFill>
                  <a:srgbClr val="0B3D91"/>
                </a:solidFill>
                <a:latin typeface="Calibri"/>
              </a:rPr>
              <a:t>Observed at individual level: UE &gt; SK &gt; PEN.  ✓</a:t>
            </a:r>
          </a:p>
        </p:txBody>
      </p:sp>
      <p:sp>
        <p:nvSpPr>
          <p:cNvPr id="23" name="TextBox 22"/>
          <p:cNvSpPr txBox="1"/>
          <p:nvPr/>
        </p:nvSpPr>
        <p:spPr>
          <a:xfrm>
            <a:off x="640080" y="5852160"/>
            <a:ext cx="10972800" cy="365760"/>
          </a:xfrm>
          <a:prstGeom prst="rect">
            <a:avLst/>
          </a:prstGeom>
          <a:noFill/>
        </p:spPr>
        <p:txBody>
          <a:bodyPr wrap="square">
            <a:spAutoFit/>
          </a:bodyPr>
          <a:lstStyle/>
          <a:p>
            <a:pPr algn="l"/>
            <a:r>
              <a:rPr sz="1600" b="0" i="1">
                <a:solidFill>
                  <a:srgbClr val="1A1A1A"/>
                </a:solidFill>
                <a:latin typeface="Calibri"/>
              </a:rPr>
              <a:t>The damage cascade fires through the point of economic vulnerability.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The asymmetric confirmation</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972800" cy="457200"/>
          </a:xfrm>
          <a:prstGeom prst="rect">
            <a:avLst/>
          </a:prstGeom>
          <a:noFill/>
        </p:spPr>
        <p:txBody>
          <a:bodyPr wrap="square">
            <a:spAutoFit/>
          </a:bodyPr>
          <a:lstStyle/>
          <a:p>
            <a:pPr algn="l"/>
            <a:r>
              <a:rPr sz="2200" b="1" i="0">
                <a:solidFill>
                  <a:srgbClr val="0B3D91"/>
                </a:solidFill>
                <a:latin typeface="Calibri"/>
              </a:rPr>
              <a:t>Same data, opposite outcome</a:t>
            </a:r>
          </a:p>
        </p:txBody>
      </p:sp>
      <p:sp>
        <p:nvSpPr>
          <p:cNvPr id="5" name="TextBox 4"/>
          <p:cNvSpPr txBox="1"/>
          <p:nvPr/>
        </p:nvSpPr>
        <p:spPr>
          <a:xfrm>
            <a:off x="640080" y="2011680"/>
            <a:ext cx="4114800" cy="365760"/>
          </a:xfrm>
          <a:prstGeom prst="rect">
            <a:avLst/>
          </a:prstGeom>
          <a:noFill/>
        </p:spPr>
        <p:txBody>
          <a:bodyPr wrap="square">
            <a:spAutoFit/>
          </a:bodyPr>
          <a:lstStyle/>
          <a:p>
            <a:pPr algn="l"/>
            <a:r>
              <a:rPr sz="1600" b="1" i="0">
                <a:solidFill>
                  <a:srgbClr val="6C757D"/>
                </a:solidFill>
                <a:latin typeface="Calibri"/>
              </a:rPr>
              <a:t>Outcome</a:t>
            </a:r>
          </a:p>
        </p:txBody>
      </p:sp>
      <p:sp>
        <p:nvSpPr>
          <p:cNvPr id="6" name="TextBox 5"/>
          <p:cNvSpPr txBox="1"/>
          <p:nvPr/>
        </p:nvSpPr>
        <p:spPr>
          <a:xfrm>
            <a:off x="5029200" y="2011680"/>
            <a:ext cx="4114800" cy="365760"/>
          </a:xfrm>
          <a:prstGeom prst="rect">
            <a:avLst/>
          </a:prstGeom>
          <a:noFill/>
        </p:spPr>
        <p:txBody>
          <a:bodyPr wrap="square">
            <a:spAutoFit/>
          </a:bodyPr>
          <a:lstStyle/>
          <a:p>
            <a:pPr algn="l"/>
            <a:r>
              <a:rPr sz="1600" b="1" i="0">
                <a:solidFill>
                  <a:srgbClr val="6C757D"/>
                </a:solidFill>
                <a:latin typeface="Calibri"/>
              </a:rPr>
              <a:t>RTI × Liberal interaction</a:t>
            </a:r>
          </a:p>
        </p:txBody>
      </p:sp>
      <p:sp>
        <p:nvSpPr>
          <p:cNvPr id="7" name="TextBox 6"/>
          <p:cNvSpPr txBox="1"/>
          <p:nvPr/>
        </p:nvSpPr>
        <p:spPr>
          <a:xfrm>
            <a:off x="9601200" y="2011680"/>
            <a:ext cx="1828800" cy="365760"/>
          </a:xfrm>
          <a:prstGeom prst="rect">
            <a:avLst/>
          </a:prstGeom>
          <a:noFill/>
        </p:spPr>
        <p:txBody>
          <a:bodyPr wrap="square">
            <a:spAutoFit/>
          </a:bodyPr>
          <a:lstStyle/>
          <a:p>
            <a:pPr algn="l"/>
            <a:r>
              <a:rPr sz="1600" b="1" i="0">
                <a:solidFill>
                  <a:srgbClr val="6C757D"/>
                </a:solidFill>
                <a:latin typeface="Calibri"/>
              </a:rPr>
              <a:t>p</a:t>
            </a:r>
          </a:p>
        </p:txBody>
      </p:sp>
      <p:sp>
        <p:nvSpPr>
          <p:cNvPr id="8" name="Rectangle 7"/>
          <p:cNvSpPr/>
          <p:nvPr/>
        </p:nvSpPr>
        <p:spPr>
          <a:xfrm>
            <a:off x="640080" y="2423160"/>
            <a:ext cx="10972800" cy="27432"/>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560320"/>
            <a:ext cx="4114800" cy="457200"/>
          </a:xfrm>
          <a:prstGeom prst="rect">
            <a:avLst/>
          </a:prstGeom>
          <a:noFill/>
        </p:spPr>
        <p:txBody>
          <a:bodyPr wrap="square">
            <a:spAutoFit/>
          </a:bodyPr>
          <a:lstStyle/>
          <a:p>
            <a:pPr algn="l"/>
            <a:r>
              <a:rPr sz="1800" b="1" i="0">
                <a:solidFill>
                  <a:srgbClr val="0B3D91"/>
                </a:solidFill>
                <a:latin typeface="Calibri"/>
              </a:rPr>
              <a:t>Anti-immigration</a:t>
            </a:r>
          </a:p>
        </p:txBody>
      </p:sp>
      <p:sp>
        <p:nvSpPr>
          <p:cNvPr id="10" name="TextBox 9"/>
          <p:cNvSpPr txBox="1"/>
          <p:nvPr/>
        </p:nvSpPr>
        <p:spPr>
          <a:xfrm>
            <a:off x="5029200" y="2560320"/>
            <a:ext cx="4114800" cy="457200"/>
          </a:xfrm>
          <a:prstGeom prst="rect">
            <a:avLst/>
          </a:prstGeom>
          <a:noFill/>
        </p:spPr>
        <p:txBody>
          <a:bodyPr wrap="square">
            <a:spAutoFit/>
          </a:bodyPr>
          <a:lstStyle/>
          <a:p>
            <a:pPr algn="l"/>
            <a:r>
              <a:rPr sz="1800" b="1" i="0">
                <a:solidFill>
                  <a:srgbClr val="0B3D91"/>
                </a:solidFill>
                <a:latin typeface="Calibri"/>
              </a:rPr>
              <a:t>β = +0.127</a:t>
            </a:r>
          </a:p>
        </p:txBody>
      </p:sp>
      <p:sp>
        <p:nvSpPr>
          <p:cNvPr id="11" name="TextBox 10"/>
          <p:cNvSpPr txBox="1"/>
          <p:nvPr/>
        </p:nvSpPr>
        <p:spPr>
          <a:xfrm>
            <a:off x="9601200" y="2560320"/>
            <a:ext cx="1828800" cy="457200"/>
          </a:xfrm>
          <a:prstGeom prst="rect">
            <a:avLst/>
          </a:prstGeom>
          <a:noFill/>
        </p:spPr>
        <p:txBody>
          <a:bodyPr wrap="square">
            <a:spAutoFit/>
          </a:bodyPr>
          <a:lstStyle/>
          <a:p>
            <a:pPr algn="l"/>
            <a:r>
              <a:rPr sz="1800" b="1" i="0">
                <a:solidFill>
                  <a:srgbClr val="0B3D91"/>
                </a:solidFill>
                <a:latin typeface="Calibri"/>
              </a:rPr>
              <a:t>0.003 ✓</a:t>
            </a:r>
          </a:p>
        </p:txBody>
      </p:sp>
      <p:sp>
        <p:nvSpPr>
          <p:cNvPr id="12" name="TextBox 11"/>
          <p:cNvSpPr txBox="1"/>
          <p:nvPr/>
        </p:nvSpPr>
        <p:spPr>
          <a:xfrm>
            <a:off x="640080" y="3200400"/>
            <a:ext cx="4114800" cy="457200"/>
          </a:xfrm>
          <a:prstGeom prst="rect">
            <a:avLst/>
          </a:prstGeom>
          <a:noFill/>
        </p:spPr>
        <p:txBody>
          <a:bodyPr wrap="square">
            <a:spAutoFit/>
          </a:bodyPr>
          <a:lstStyle/>
          <a:p>
            <a:pPr algn="l"/>
            <a:r>
              <a:rPr sz="1800" b="0" i="0">
                <a:solidFill>
                  <a:srgbClr val="1A1A1A"/>
                </a:solidFill>
                <a:latin typeface="Calibri"/>
              </a:rPr>
              <a:t>Redistribution support</a:t>
            </a:r>
          </a:p>
        </p:txBody>
      </p:sp>
      <p:sp>
        <p:nvSpPr>
          <p:cNvPr id="13" name="TextBox 12"/>
          <p:cNvSpPr txBox="1"/>
          <p:nvPr/>
        </p:nvSpPr>
        <p:spPr>
          <a:xfrm>
            <a:off x="5029200" y="3200400"/>
            <a:ext cx="4114800" cy="457200"/>
          </a:xfrm>
          <a:prstGeom prst="rect">
            <a:avLst/>
          </a:prstGeom>
          <a:noFill/>
        </p:spPr>
        <p:txBody>
          <a:bodyPr wrap="square">
            <a:spAutoFit/>
          </a:bodyPr>
          <a:lstStyle/>
          <a:p>
            <a:pPr algn="l"/>
            <a:r>
              <a:rPr sz="1800" b="0" i="0">
                <a:solidFill>
                  <a:srgbClr val="1A1A1A"/>
                </a:solidFill>
                <a:latin typeface="Calibri"/>
              </a:rPr>
              <a:t>β = +0.011</a:t>
            </a:r>
          </a:p>
        </p:txBody>
      </p:sp>
      <p:sp>
        <p:nvSpPr>
          <p:cNvPr id="14" name="TextBox 13"/>
          <p:cNvSpPr txBox="1"/>
          <p:nvPr/>
        </p:nvSpPr>
        <p:spPr>
          <a:xfrm>
            <a:off x="9601200" y="3200400"/>
            <a:ext cx="1828800" cy="457200"/>
          </a:xfrm>
          <a:prstGeom prst="rect">
            <a:avLst/>
          </a:prstGeom>
          <a:noFill/>
        </p:spPr>
        <p:txBody>
          <a:bodyPr wrap="square">
            <a:spAutoFit/>
          </a:bodyPr>
          <a:lstStyle/>
          <a:p>
            <a:pPr algn="l"/>
            <a:r>
              <a:rPr sz="1800" b="0" i="0">
                <a:solidFill>
                  <a:srgbClr val="6C757D"/>
                </a:solidFill>
                <a:latin typeface="Calibri"/>
              </a:rPr>
              <a:t>0.285 (n.s.)</a:t>
            </a:r>
          </a:p>
        </p:txBody>
      </p:sp>
      <p:sp>
        <p:nvSpPr>
          <p:cNvPr id="15" name="Rectangle 14"/>
          <p:cNvSpPr/>
          <p:nvPr/>
        </p:nvSpPr>
        <p:spPr>
          <a:xfrm>
            <a:off x="640080" y="3703320"/>
            <a:ext cx="10972800" cy="27432"/>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023360"/>
            <a:ext cx="10972800" cy="457200"/>
          </a:xfrm>
          <a:prstGeom prst="rect">
            <a:avLst/>
          </a:prstGeom>
          <a:noFill/>
        </p:spPr>
        <p:txBody>
          <a:bodyPr wrap="square">
            <a:spAutoFit/>
          </a:bodyPr>
          <a:lstStyle/>
          <a:p>
            <a:pPr algn="l"/>
            <a:r>
              <a:rPr sz="2200" b="1" i="0">
                <a:solidFill>
                  <a:srgbClr val="0B3D91"/>
                </a:solidFill>
                <a:latin typeface="Calibri"/>
              </a:rPr>
              <a:t>The exclusion side is robust. The solidarity side is null.</a:t>
            </a:r>
          </a:p>
        </p:txBody>
      </p:sp>
      <p:sp>
        <p:nvSpPr>
          <p:cNvPr id="17" name="TextBox 16"/>
          <p:cNvSpPr txBox="1"/>
          <p:nvPr/>
        </p:nvSpPr>
        <p:spPr>
          <a:xfrm>
            <a:off x="640080" y="4663440"/>
            <a:ext cx="10972800" cy="1828800"/>
          </a:xfrm>
          <a:prstGeom prst="rect">
            <a:avLst/>
          </a:prstGeom>
          <a:noFill/>
        </p:spPr>
        <p:txBody>
          <a:bodyPr wrap="square">
            <a:spAutoFit/>
          </a:bodyPr>
          <a:lstStyle/>
          <a:p>
            <a:pPr algn="l">
              <a:spcBef>
                <a:spcPts val="600"/>
              </a:spcBef>
              <a:spcAft>
                <a:spcPts val="600"/>
              </a:spcAft>
            </a:pPr>
            <a:r>
              <a:rPr sz="1500">
                <a:solidFill>
                  <a:srgbClr val="1A1A1A"/>
                </a:solidFill>
                <a:latin typeface="Calibri"/>
              </a:rPr>
              <a:t>•  Welfare context cleanly attenuates the conversion of vulnerability into exclusion</a:t>
            </a:r>
          </a:p>
          <a:p>
            <a:pPr algn="l">
              <a:spcBef>
                <a:spcPts val="600"/>
              </a:spcBef>
              <a:spcAft>
                <a:spcPts val="600"/>
              </a:spcAft>
            </a:pPr>
            <a:r>
              <a:rPr sz="1500">
                <a:solidFill>
                  <a:srgbClr val="1A1A1A"/>
                </a:solidFill>
                <a:latin typeface="Calibri"/>
              </a:rPr>
              <a:t>•  Welfare context does NOT detectably moderate the conversion of the same vulnerability into solidarity</a:t>
            </a:r>
          </a:p>
          <a:p>
            <a:pPr algn="l">
              <a:spcBef>
                <a:spcPts val="600"/>
              </a:spcBef>
              <a:spcAft>
                <a:spcPts val="600"/>
              </a:spcAft>
            </a:pPr>
            <a:r>
              <a:rPr sz="1500">
                <a:solidFill>
                  <a:srgbClr val="1A1A1A"/>
                </a:solidFill>
                <a:latin typeface="Calibri"/>
              </a:rPr>
              <a:t>•  Supplementary ISSP test on different sample, outcome, time period: same null</a:t>
            </a:r>
          </a:p>
        </p:txBody>
      </p:sp>
      <p:sp>
        <p:nvSpPr>
          <p:cNvPr id="18" name="TextBox 17"/>
          <p:cNvSpPr txBox="1"/>
          <p:nvPr/>
        </p:nvSpPr>
        <p:spPr>
          <a:xfrm>
            <a:off x="640080" y="6035040"/>
            <a:ext cx="10972800" cy="411480"/>
          </a:xfrm>
          <a:prstGeom prst="rect">
            <a:avLst/>
          </a:prstGeom>
          <a:noFill/>
        </p:spPr>
        <p:txBody>
          <a:bodyPr wrap="square">
            <a:spAutoFit/>
          </a:bodyPr>
          <a:lstStyle/>
          <a:p>
            <a:pPr algn="l"/>
            <a:r>
              <a:rPr sz="1800" b="1" i="1">
                <a:solidFill>
                  <a:srgbClr val="0B3D91"/>
                </a:solidFill>
                <a:latin typeface="Calibri"/>
              </a:rPr>
              <a:t>This is what the asymmetric mechanism predicts.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Implications</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3200400" cy="457200"/>
          </a:xfrm>
          <a:prstGeom prst="rect">
            <a:avLst/>
          </a:prstGeom>
          <a:noFill/>
        </p:spPr>
        <p:txBody>
          <a:bodyPr wrap="square">
            <a:spAutoFit/>
          </a:bodyPr>
          <a:lstStyle/>
          <a:p>
            <a:pPr algn="l"/>
            <a:r>
              <a:rPr sz="1600" b="1" i="0">
                <a:solidFill>
                  <a:srgbClr val="0B3D91"/>
                </a:solidFill>
                <a:latin typeface="Calibri"/>
              </a:rPr>
              <a:t>For Welfare-state theory:</a:t>
            </a:r>
          </a:p>
        </p:txBody>
      </p:sp>
      <p:sp>
        <p:nvSpPr>
          <p:cNvPr id="5" name="TextBox 4"/>
          <p:cNvSpPr txBox="1"/>
          <p:nvPr/>
        </p:nvSpPr>
        <p:spPr>
          <a:xfrm>
            <a:off x="4023360" y="1371600"/>
            <a:ext cx="7772400" cy="1097280"/>
          </a:xfrm>
          <a:prstGeom prst="rect">
            <a:avLst/>
          </a:prstGeom>
          <a:noFill/>
        </p:spPr>
        <p:txBody>
          <a:bodyPr wrap="square">
            <a:spAutoFit/>
          </a:bodyPr>
          <a:lstStyle/>
          <a:p>
            <a:pPr algn="l"/>
            <a:r>
              <a:rPr sz="1500" b="0" i="0">
                <a:solidFill>
                  <a:srgbClr val="1A1A1A"/>
                </a:solidFill>
                <a:latin typeface="Calibri"/>
              </a:rPr>
              <a:t>the political consequences of welfare design travel along WHAT welfare communicates, not HOW MUCH welfare spends</a:t>
            </a:r>
          </a:p>
        </p:txBody>
      </p:sp>
      <p:sp>
        <p:nvSpPr>
          <p:cNvPr id="6" name="TextBox 5"/>
          <p:cNvSpPr txBox="1"/>
          <p:nvPr/>
        </p:nvSpPr>
        <p:spPr>
          <a:xfrm>
            <a:off x="640080" y="2560320"/>
            <a:ext cx="3200400" cy="457200"/>
          </a:xfrm>
          <a:prstGeom prst="rect">
            <a:avLst/>
          </a:prstGeom>
          <a:noFill/>
        </p:spPr>
        <p:txBody>
          <a:bodyPr wrap="square">
            <a:spAutoFit/>
          </a:bodyPr>
          <a:lstStyle/>
          <a:p>
            <a:pPr algn="l"/>
            <a:r>
              <a:rPr sz="1600" b="1" i="0">
                <a:solidFill>
                  <a:srgbClr val="0B3D91"/>
                </a:solidFill>
                <a:latin typeface="Calibri"/>
              </a:rPr>
              <a:t>For Cultural-vs-economic debate:</a:t>
            </a:r>
          </a:p>
        </p:txBody>
      </p:sp>
      <p:sp>
        <p:nvSpPr>
          <p:cNvPr id="7" name="TextBox 6"/>
          <p:cNvSpPr txBox="1"/>
          <p:nvPr/>
        </p:nvSpPr>
        <p:spPr>
          <a:xfrm>
            <a:off x="4023360" y="2560320"/>
            <a:ext cx="7772400" cy="1097280"/>
          </a:xfrm>
          <a:prstGeom prst="rect">
            <a:avLst/>
          </a:prstGeom>
          <a:noFill/>
        </p:spPr>
        <p:txBody>
          <a:bodyPr wrap="square">
            <a:spAutoFit/>
          </a:bodyPr>
          <a:lstStyle/>
          <a:p>
            <a:pPr algn="l"/>
            <a:r>
              <a:rPr sz="1500" b="0" i="0">
                <a:solidFill>
                  <a:srgbClr val="1A1A1A"/>
                </a:solidFill>
                <a:latin typeface="Calibri"/>
              </a:rPr>
              <a:t>cultural backlash isn't a rival explanation to economic disruption — it's what economic disruption looks like, cross-nationally, where welfare institutions are less decommodifying</a:t>
            </a:r>
          </a:p>
        </p:txBody>
      </p:sp>
      <p:sp>
        <p:nvSpPr>
          <p:cNvPr id="8" name="TextBox 7"/>
          <p:cNvSpPr txBox="1"/>
          <p:nvPr/>
        </p:nvSpPr>
        <p:spPr>
          <a:xfrm>
            <a:off x="640080" y="3749039"/>
            <a:ext cx="3200400" cy="457200"/>
          </a:xfrm>
          <a:prstGeom prst="rect">
            <a:avLst/>
          </a:prstGeom>
          <a:noFill/>
        </p:spPr>
        <p:txBody>
          <a:bodyPr wrap="square">
            <a:spAutoFit/>
          </a:bodyPr>
          <a:lstStyle/>
          <a:p>
            <a:pPr algn="l"/>
            <a:r>
              <a:rPr sz="1600" b="1" i="0">
                <a:solidFill>
                  <a:srgbClr val="0B3D91"/>
                </a:solidFill>
                <a:latin typeface="Calibri"/>
              </a:rPr>
              <a:t>For Policy:</a:t>
            </a:r>
          </a:p>
        </p:txBody>
      </p:sp>
      <p:sp>
        <p:nvSpPr>
          <p:cNvPr id="9" name="TextBox 8"/>
          <p:cNvSpPr txBox="1"/>
          <p:nvPr/>
        </p:nvSpPr>
        <p:spPr>
          <a:xfrm>
            <a:off x="4023360" y="3749039"/>
            <a:ext cx="7772400" cy="1097280"/>
          </a:xfrm>
          <a:prstGeom prst="rect">
            <a:avLst/>
          </a:prstGeom>
          <a:noFill/>
        </p:spPr>
        <p:txBody>
          <a:bodyPr wrap="square">
            <a:spAutoFit/>
          </a:bodyPr>
          <a:lstStyle/>
          <a:p>
            <a:pPr algn="l"/>
            <a:r>
              <a:rPr sz="1500" b="0" i="0">
                <a:solidFill>
                  <a:srgbClr val="1A1A1A"/>
                </a:solidFill>
                <a:latin typeface="Calibri"/>
              </a:rPr>
              <a:t>dignity-preserving welfare is necessary for solidarity but not sufficient. Active solidarity requires political work that welfare design alone cannot do</a:t>
            </a:r>
          </a:p>
        </p:txBody>
      </p:sp>
      <p:sp>
        <p:nvSpPr>
          <p:cNvPr id="10" name="TextBox 9"/>
          <p:cNvSpPr txBox="1"/>
          <p:nvPr/>
        </p:nvSpPr>
        <p:spPr>
          <a:xfrm>
            <a:off x="640080" y="4937760"/>
            <a:ext cx="3200400" cy="457200"/>
          </a:xfrm>
          <a:prstGeom prst="rect">
            <a:avLst/>
          </a:prstGeom>
          <a:noFill/>
        </p:spPr>
        <p:txBody>
          <a:bodyPr wrap="square">
            <a:spAutoFit/>
          </a:bodyPr>
          <a:lstStyle/>
          <a:p>
            <a:pPr algn="l"/>
            <a:r>
              <a:rPr sz="1600" b="1" i="0">
                <a:solidFill>
                  <a:srgbClr val="0B3D91"/>
                </a:solidFill>
                <a:latin typeface="Calibri"/>
              </a:rPr>
              <a:t>For Thesis follow-up:</a:t>
            </a:r>
          </a:p>
        </p:txBody>
      </p:sp>
      <p:sp>
        <p:nvSpPr>
          <p:cNvPr id="11" name="TextBox 10"/>
          <p:cNvSpPr txBox="1"/>
          <p:nvPr/>
        </p:nvSpPr>
        <p:spPr>
          <a:xfrm>
            <a:off x="4023360" y="4937760"/>
            <a:ext cx="7772400" cy="1097280"/>
          </a:xfrm>
          <a:prstGeom prst="rect">
            <a:avLst/>
          </a:prstGeom>
          <a:noFill/>
        </p:spPr>
        <p:txBody>
          <a:bodyPr wrap="square">
            <a:spAutoFit/>
          </a:bodyPr>
          <a:lstStyle/>
          <a:p>
            <a:pPr algn="l"/>
            <a:r>
              <a:rPr sz="1500" b="0" i="0">
                <a:solidFill>
                  <a:srgbClr val="1A1A1A"/>
                </a:solidFill>
                <a:latin typeface="Calibri"/>
              </a:rPr>
              <a:t>Danish registry data on individuals before and after the 2003/2006/2013 activation reforms — testing within-individual whether conditionality shocks produce damage signatures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1645920"/>
            <a:ext cx="12191695" cy="914400"/>
          </a:xfrm>
          <a:prstGeom prst="rect">
            <a:avLst/>
          </a:prstGeom>
          <a:noFill/>
        </p:spPr>
        <p:txBody>
          <a:bodyPr wrap="square">
            <a:spAutoFit/>
          </a:bodyPr>
          <a:lstStyle/>
          <a:p>
            <a:pPr algn="ctr"/>
            <a:r>
              <a:rPr sz="5600" b="1" i="0">
                <a:solidFill>
                  <a:srgbClr val="0B3D91"/>
                </a:solidFill>
                <a:latin typeface="Calibri"/>
              </a:rPr>
              <a:t>Dignity is a baseline</a:t>
            </a:r>
          </a:p>
        </p:txBody>
      </p:sp>
      <p:sp>
        <p:nvSpPr>
          <p:cNvPr id="3" name="TextBox 2"/>
          <p:cNvSpPr txBox="1"/>
          <p:nvPr/>
        </p:nvSpPr>
        <p:spPr>
          <a:xfrm>
            <a:off x="0" y="3108960"/>
            <a:ext cx="12191695" cy="548640"/>
          </a:xfrm>
          <a:prstGeom prst="rect">
            <a:avLst/>
          </a:prstGeom>
          <a:noFill/>
        </p:spPr>
        <p:txBody>
          <a:bodyPr wrap="square">
            <a:spAutoFit/>
          </a:bodyPr>
          <a:lstStyle/>
          <a:p>
            <a:pPr algn="ctr"/>
            <a:r>
              <a:rPr sz="2600" b="0" i="1">
                <a:solidFill>
                  <a:srgbClr val="1A1A1A"/>
                </a:solidFill>
                <a:latin typeface="Calibri"/>
              </a:rPr>
              <a:t>Its absence damages.</a:t>
            </a:r>
          </a:p>
        </p:txBody>
      </p:sp>
      <p:sp>
        <p:nvSpPr>
          <p:cNvPr id="4" name="TextBox 3"/>
          <p:cNvSpPr txBox="1"/>
          <p:nvPr/>
        </p:nvSpPr>
        <p:spPr>
          <a:xfrm>
            <a:off x="0" y="3657600"/>
            <a:ext cx="12191695" cy="548640"/>
          </a:xfrm>
          <a:prstGeom prst="rect">
            <a:avLst/>
          </a:prstGeom>
          <a:noFill/>
        </p:spPr>
        <p:txBody>
          <a:bodyPr wrap="square">
            <a:spAutoFit/>
          </a:bodyPr>
          <a:lstStyle/>
          <a:p>
            <a:pPr algn="ctr"/>
            <a:r>
              <a:rPr sz="2600" b="0" i="1">
                <a:solidFill>
                  <a:srgbClr val="1A1A1A"/>
                </a:solidFill>
                <a:latin typeface="Calibri"/>
              </a:rPr>
              <a:t>Its presence clears the ground for solidarity.</a:t>
            </a:r>
          </a:p>
        </p:txBody>
      </p:sp>
      <p:sp>
        <p:nvSpPr>
          <p:cNvPr id="5" name="TextBox 4"/>
          <p:cNvSpPr txBox="1"/>
          <p:nvPr/>
        </p:nvSpPr>
        <p:spPr>
          <a:xfrm>
            <a:off x="0" y="4206240"/>
            <a:ext cx="12191695" cy="548640"/>
          </a:xfrm>
          <a:prstGeom prst="rect">
            <a:avLst/>
          </a:prstGeom>
          <a:noFill/>
        </p:spPr>
        <p:txBody>
          <a:bodyPr wrap="square">
            <a:spAutoFit/>
          </a:bodyPr>
          <a:lstStyle/>
          <a:p>
            <a:pPr algn="ctr"/>
            <a:r>
              <a:rPr sz="2600" b="0" i="1">
                <a:solidFill>
                  <a:srgbClr val="1A1A1A"/>
                </a:solidFill>
                <a:latin typeface="Calibri"/>
              </a:rPr>
              <a:t>It does not, by itself, produce solidarity.</a:t>
            </a:r>
          </a:p>
        </p:txBody>
      </p:sp>
      <p:sp>
        <p:nvSpPr>
          <p:cNvPr id="6" name="TextBox 5"/>
          <p:cNvSpPr txBox="1"/>
          <p:nvPr/>
        </p:nvSpPr>
        <p:spPr>
          <a:xfrm>
            <a:off x="0" y="5486400"/>
            <a:ext cx="12191695" cy="548640"/>
          </a:xfrm>
          <a:prstGeom prst="rect">
            <a:avLst/>
          </a:prstGeom>
          <a:noFill/>
        </p:spPr>
        <p:txBody>
          <a:bodyPr wrap="square">
            <a:spAutoFit/>
          </a:bodyPr>
          <a:lstStyle/>
          <a:p>
            <a:pPr algn="ctr"/>
            <a:r>
              <a:rPr sz="3200" b="1" i="0">
                <a:solidFill>
                  <a:srgbClr val="0B3D91"/>
                </a:solidFill>
                <a:latin typeface="Calibri"/>
              </a:rPr>
              <a:t>Thank you.</a:t>
            </a:r>
          </a:p>
        </p:txBody>
      </p:sp>
      <p:sp>
        <p:nvSpPr>
          <p:cNvPr id="7" name="TextBox 6"/>
          <p:cNvSpPr txBox="1"/>
          <p:nvPr/>
        </p:nvSpPr>
        <p:spPr>
          <a:xfrm>
            <a:off x="0" y="6126480"/>
            <a:ext cx="12191695" cy="365760"/>
          </a:xfrm>
          <a:prstGeom prst="rect">
            <a:avLst/>
          </a:prstGeom>
          <a:noFill/>
        </p:spPr>
        <p:txBody>
          <a:bodyPr wrap="square">
            <a:spAutoFit/>
          </a:bodyPr>
          <a:lstStyle/>
          <a:p>
            <a:pPr algn="ctr"/>
            <a:r>
              <a:rPr sz="1400" b="0" i="0">
                <a:solidFill>
                  <a:srgbClr val="6C757D"/>
                </a:solidFill>
                <a:latin typeface="Calibri"/>
              </a:rPr>
              <a:t>ben.smart@econ.ku.dk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Backup: regime descriptive results</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2_rti_vs_antiimmig_by_regime.png"/>
          <p:cNvPicPr>
            <a:picLocks noChangeAspect="1"/>
          </p:cNvPicPr>
          <p:nvPr/>
        </p:nvPicPr>
        <p:blipFill>
          <a:blip r:embed="rId2"/>
          <a:stretch>
            <a:fillRect/>
          </a:stretch>
        </p:blipFill>
        <p:spPr>
          <a:xfrm>
            <a:off x="1371600" y="1188720"/>
            <a:ext cx="6400800" cy="4114800"/>
          </a:xfrm>
          <a:prstGeom prst="rect">
            <a:avLst/>
          </a:prstGeom>
        </p:spPr>
      </p:pic>
      <p:sp>
        <p:nvSpPr>
          <p:cNvPr id="5" name="TextBox 4"/>
          <p:cNvSpPr txBox="1"/>
          <p:nvPr/>
        </p:nvSpPr>
        <p:spPr>
          <a:xfrm>
            <a:off x="8229600" y="1828800"/>
            <a:ext cx="3657600" cy="365760"/>
          </a:xfrm>
          <a:prstGeom prst="rect">
            <a:avLst/>
          </a:prstGeom>
          <a:noFill/>
        </p:spPr>
        <p:txBody>
          <a:bodyPr wrap="square">
            <a:spAutoFit/>
          </a:bodyPr>
          <a:lstStyle/>
          <a:p>
            <a:pPr algn="l"/>
            <a:r>
              <a:rPr sz="1400" b="1" i="0">
                <a:solidFill>
                  <a:srgbClr val="0B3D91"/>
                </a:solidFill>
                <a:latin typeface="Calibri"/>
              </a:rPr>
              <a:t>Regime</a:t>
            </a:r>
          </a:p>
        </p:txBody>
      </p:sp>
      <p:sp>
        <p:nvSpPr>
          <p:cNvPr id="6" name="TextBox 5"/>
          <p:cNvSpPr txBox="1"/>
          <p:nvPr/>
        </p:nvSpPr>
        <p:spPr>
          <a:xfrm>
            <a:off x="10515600" y="1828800"/>
            <a:ext cx="1371600" cy="365760"/>
          </a:xfrm>
          <a:prstGeom prst="rect">
            <a:avLst/>
          </a:prstGeom>
          <a:noFill/>
        </p:spPr>
        <p:txBody>
          <a:bodyPr wrap="square">
            <a:spAutoFit/>
          </a:bodyPr>
          <a:lstStyle/>
          <a:p>
            <a:pPr algn="l"/>
            <a:r>
              <a:rPr sz="1400" b="1" i="0">
                <a:solidFill>
                  <a:srgbClr val="0B3D91"/>
                </a:solidFill>
                <a:latin typeface="Calibri"/>
              </a:rPr>
              <a:t>Slope</a:t>
            </a:r>
          </a:p>
        </p:txBody>
      </p:sp>
      <p:sp>
        <p:nvSpPr>
          <p:cNvPr id="7" name="TextBox 6"/>
          <p:cNvSpPr txBox="1"/>
          <p:nvPr/>
        </p:nvSpPr>
        <p:spPr>
          <a:xfrm>
            <a:off x="8229600" y="2286000"/>
            <a:ext cx="3657600" cy="365760"/>
          </a:xfrm>
          <a:prstGeom prst="rect">
            <a:avLst/>
          </a:prstGeom>
          <a:noFill/>
        </p:spPr>
        <p:txBody>
          <a:bodyPr wrap="square">
            <a:spAutoFit/>
          </a:bodyPr>
          <a:lstStyle/>
          <a:p>
            <a:pPr algn="l"/>
            <a:r>
              <a:rPr sz="1300" b="0" i="0">
                <a:solidFill>
                  <a:srgbClr val="1A1A1A"/>
                </a:solidFill>
                <a:latin typeface="Calibri"/>
              </a:rPr>
              <a:t>Liberal</a:t>
            </a:r>
          </a:p>
        </p:txBody>
      </p:sp>
      <p:sp>
        <p:nvSpPr>
          <p:cNvPr id="8" name="TextBox 7"/>
          <p:cNvSpPr txBox="1"/>
          <p:nvPr/>
        </p:nvSpPr>
        <p:spPr>
          <a:xfrm>
            <a:off x="10515600" y="2286000"/>
            <a:ext cx="1371600" cy="365760"/>
          </a:xfrm>
          <a:prstGeom prst="rect">
            <a:avLst/>
          </a:prstGeom>
          <a:noFill/>
        </p:spPr>
        <p:txBody>
          <a:bodyPr wrap="square">
            <a:spAutoFit/>
          </a:bodyPr>
          <a:lstStyle/>
          <a:p>
            <a:pPr algn="l"/>
            <a:r>
              <a:rPr sz="1300" b="0" i="0">
                <a:solidFill>
                  <a:srgbClr val="1A1A1A"/>
                </a:solidFill>
                <a:latin typeface="Calibri"/>
              </a:rPr>
              <a:t>β = 0.512</a:t>
            </a:r>
          </a:p>
        </p:txBody>
      </p:sp>
      <p:sp>
        <p:nvSpPr>
          <p:cNvPr id="9" name="TextBox 8"/>
          <p:cNvSpPr txBox="1"/>
          <p:nvPr/>
        </p:nvSpPr>
        <p:spPr>
          <a:xfrm>
            <a:off x="8229600" y="2651760"/>
            <a:ext cx="3657600" cy="365760"/>
          </a:xfrm>
          <a:prstGeom prst="rect">
            <a:avLst/>
          </a:prstGeom>
          <a:noFill/>
        </p:spPr>
        <p:txBody>
          <a:bodyPr wrap="square">
            <a:spAutoFit/>
          </a:bodyPr>
          <a:lstStyle/>
          <a:p>
            <a:pPr algn="l"/>
            <a:r>
              <a:rPr sz="1300" b="0" i="0">
                <a:solidFill>
                  <a:srgbClr val="1A1A1A"/>
                </a:solidFill>
                <a:latin typeface="Calibri"/>
              </a:rPr>
              <a:t>Southern</a:t>
            </a:r>
          </a:p>
        </p:txBody>
      </p:sp>
      <p:sp>
        <p:nvSpPr>
          <p:cNvPr id="10" name="TextBox 9"/>
          <p:cNvSpPr txBox="1"/>
          <p:nvPr/>
        </p:nvSpPr>
        <p:spPr>
          <a:xfrm>
            <a:off x="10515600" y="2651760"/>
            <a:ext cx="1371600" cy="365760"/>
          </a:xfrm>
          <a:prstGeom prst="rect">
            <a:avLst/>
          </a:prstGeom>
          <a:noFill/>
        </p:spPr>
        <p:txBody>
          <a:bodyPr wrap="square">
            <a:spAutoFit/>
          </a:bodyPr>
          <a:lstStyle/>
          <a:p>
            <a:pPr algn="l"/>
            <a:r>
              <a:rPr sz="1300" b="0" i="0">
                <a:solidFill>
                  <a:srgbClr val="1A1A1A"/>
                </a:solidFill>
                <a:latin typeface="Calibri"/>
              </a:rPr>
              <a:t>β = 0.462</a:t>
            </a:r>
          </a:p>
        </p:txBody>
      </p:sp>
      <p:sp>
        <p:nvSpPr>
          <p:cNvPr id="11" name="TextBox 10"/>
          <p:cNvSpPr txBox="1"/>
          <p:nvPr/>
        </p:nvSpPr>
        <p:spPr>
          <a:xfrm>
            <a:off x="8229600" y="3017520"/>
            <a:ext cx="3657600" cy="365760"/>
          </a:xfrm>
          <a:prstGeom prst="rect">
            <a:avLst/>
          </a:prstGeom>
          <a:noFill/>
        </p:spPr>
        <p:txBody>
          <a:bodyPr wrap="square">
            <a:spAutoFit/>
          </a:bodyPr>
          <a:lstStyle/>
          <a:p>
            <a:pPr algn="l"/>
            <a:r>
              <a:rPr sz="1300" b="0" i="0">
                <a:solidFill>
                  <a:srgbClr val="1A1A1A"/>
                </a:solidFill>
                <a:latin typeface="Calibri"/>
              </a:rPr>
              <a:t>Continental</a:t>
            </a:r>
          </a:p>
        </p:txBody>
      </p:sp>
      <p:sp>
        <p:nvSpPr>
          <p:cNvPr id="12" name="TextBox 11"/>
          <p:cNvSpPr txBox="1"/>
          <p:nvPr/>
        </p:nvSpPr>
        <p:spPr>
          <a:xfrm>
            <a:off x="10515600" y="3017520"/>
            <a:ext cx="1371600" cy="365760"/>
          </a:xfrm>
          <a:prstGeom prst="rect">
            <a:avLst/>
          </a:prstGeom>
          <a:noFill/>
        </p:spPr>
        <p:txBody>
          <a:bodyPr wrap="square">
            <a:spAutoFit/>
          </a:bodyPr>
          <a:lstStyle/>
          <a:p>
            <a:pPr algn="l"/>
            <a:r>
              <a:rPr sz="1300" b="0" i="0">
                <a:solidFill>
                  <a:srgbClr val="1A1A1A"/>
                </a:solidFill>
                <a:latin typeface="Calibri"/>
              </a:rPr>
              <a:t>β = 0.443</a:t>
            </a:r>
          </a:p>
        </p:txBody>
      </p:sp>
      <p:sp>
        <p:nvSpPr>
          <p:cNvPr id="13" name="TextBox 12"/>
          <p:cNvSpPr txBox="1"/>
          <p:nvPr/>
        </p:nvSpPr>
        <p:spPr>
          <a:xfrm>
            <a:off x="8229600" y="3383279"/>
            <a:ext cx="3657600" cy="365760"/>
          </a:xfrm>
          <a:prstGeom prst="rect">
            <a:avLst/>
          </a:prstGeom>
          <a:noFill/>
        </p:spPr>
        <p:txBody>
          <a:bodyPr wrap="square">
            <a:spAutoFit/>
          </a:bodyPr>
          <a:lstStyle/>
          <a:p>
            <a:pPr algn="l"/>
            <a:r>
              <a:rPr sz="1300" b="0" i="0">
                <a:solidFill>
                  <a:srgbClr val="1A1A1A"/>
                </a:solidFill>
                <a:latin typeface="Calibri"/>
              </a:rPr>
              <a:t>Nordic</a:t>
            </a:r>
          </a:p>
        </p:txBody>
      </p:sp>
      <p:sp>
        <p:nvSpPr>
          <p:cNvPr id="14" name="TextBox 13"/>
          <p:cNvSpPr txBox="1"/>
          <p:nvPr/>
        </p:nvSpPr>
        <p:spPr>
          <a:xfrm>
            <a:off x="10515600" y="3383279"/>
            <a:ext cx="1371600" cy="365760"/>
          </a:xfrm>
          <a:prstGeom prst="rect">
            <a:avLst/>
          </a:prstGeom>
          <a:noFill/>
        </p:spPr>
        <p:txBody>
          <a:bodyPr wrap="square">
            <a:spAutoFit/>
          </a:bodyPr>
          <a:lstStyle/>
          <a:p>
            <a:pPr algn="l"/>
            <a:r>
              <a:rPr sz="1300" b="0" i="0">
                <a:solidFill>
                  <a:srgbClr val="1A1A1A"/>
                </a:solidFill>
                <a:latin typeface="Calibri"/>
              </a:rPr>
              <a:t>β = 0.413</a:t>
            </a:r>
          </a:p>
        </p:txBody>
      </p:sp>
      <p:sp>
        <p:nvSpPr>
          <p:cNvPr id="15" name="TextBox 14"/>
          <p:cNvSpPr txBox="1"/>
          <p:nvPr/>
        </p:nvSpPr>
        <p:spPr>
          <a:xfrm>
            <a:off x="8229600" y="3749039"/>
            <a:ext cx="3657600" cy="365760"/>
          </a:xfrm>
          <a:prstGeom prst="rect">
            <a:avLst/>
          </a:prstGeom>
          <a:noFill/>
        </p:spPr>
        <p:txBody>
          <a:bodyPr wrap="square">
            <a:spAutoFit/>
          </a:bodyPr>
          <a:lstStyle/>
          <a:p>
            <a:pPr algn="l"/>
            <a:r>
              <a:rPr sz="1300" b="0" i="0">
                <a:solidFill>
                  <a:srgbClr val="1A1A1A"/>
                </a:solidFill>
                <a:latin typeface="Calibri"/>
              </a:rPr>
              <a:t>Eastern</a:t>
            </a:r>
          </a:p>
        </p:txBody>
      </p:sp>
      <p:sp>
        <p:nvSpPr>
          <p:cNvPr id="16" name="TextBox 15"/>
          <p:cNvSpPr txBox="1"/>
          <p:nvPr/>
        </p:nvSpPr>
        <p:spPr>
          <a:xfrm>
            <a:off x="10515600" y="3749039"/>
            <a:ext cx="1371600" cy="365760"/>
          </a:xfrm>
          <a:prstGeom prst="rect">
            <a:avLst/>
          </a:prstGeom>
          <a:noFill/>
        </p:spPr>
        <p:txBody>
          <a:bodyPr wrap="square">
            <a:spAutoFit/>
          </a:bodyPr>
          <a:lstStyle/>
          <a:p>
            <a:pPr algn="l"/>
            <a:r>
              <a:rPr sz="1300" b="0" i="0">
                <a:solidFill>
                  <a:srgbClr val="1A1A1A"/>
                </a:solidFill>
                <a:latin typeface="Calibri"/>
              </a:rPr>
              <a:t>β = 0.263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Backup: marginal effects</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3_marginal_effects.png"/>
          <p:cNvPicPr>
            <a:picLocks noChangeAspect="1"/>
          </p:cNvPicPr>
          <p:nvPr/>
        </p:nvPicPr>
        <p:blipFill>
          <a:blip r:embed="rId2"/>
          <a:stretch>
            <a:fillRect/>
          </a:stretch>
        </p:blipFill>
        <p:spPr>
          <a:xfrm>
            <a:off x="2286000" y="1188720"/>
            <a:ext cx="7772400" cy="4114800"/>
          </a:xfrm>
          <a:prstGeom prst="rect">
            <a:avLst/>
          </a:prstGeom>
        </p:spPr>
      </p:pic>
      <p:sp>
        <p:nvSpPr>
          <p:cNvPr id="5" name="TextBox 4"/>
          <p:cNvSpPr txBox="1"/>
          <p:nvPr/>
        </p:nvSpPr>
        <p:spPr>
          <a:xfrm>
            <a:off x="640080" y="5486400"/>
            <a:ext cx="10972800" cy="457200"/>
          </a:xfrm>
          <a:prstGeom prst="rect">
            <a:avLst/>
          </a:prstGeom>
          <a:noFill/>
        </p:spPr>
        <p:txBody>
          <a:bodyPr wrap="square">
            <a:spAutoFit/>
          </a:bodyPr>
          <a:lstStyle/>
          <a:p>
            <a:pPr algn="l"/>
            <a:r>
              <a:rPr sz="1600" b="1" i="0">
                <a:solidFill>
                  <a:srgbClr val="1A1A1A"/>
                </a:solidFill>
                <a:latin typeface="Calibri"/>
              </a:rPr>
              <a:t>A 1-SD increase in RTI is associated with:</a:t>
            </a:r>
          </a:p>
        </p:txBody>
      </p:sp>
      <p:sp>
        <p:nvSpPr>
          <p:cNvPr id="6" name="TextBox 5"/>
          <p:cNvSpPr txBox="1"/>
          <p:nvPr/>
        </p:nvSpPr>
        <p:spPr>
          <a:xfrm>
            <a:off x="640080" y="5943600"/>
            <a:ext cx="10972800" cy="1371600"/>
          </a:xfrm>
          <a:prstGeom prst="rect">
            <a:avLst/>
          </a:prstGeom>
          <a:noFill/>
        </p:spPr>
        <p:txBody>
          <a:bodyPr wrap="square">
            <a:spAutoFit/>
          </a:bodyPr>
          <a:lstStyle/>
          <a:p>
            <a:pPr algn="l">
              <a:spcBef>
                <a:spcPts val="600"/>
              </a:spcBef>
              <a:spcAft>
                <a:spcPts val="600"/>
              </a:spcAft>
            </a:pPr>
            <a:r>
              <a:rPr sz="1400">
                <a:solidFill>
                  <a:srgbClr val="1A1A1A"/>
                </a:solidFill>
                <a:latin typeface="Calibri"/>
              </a:rPr>
              <a:t>•  0.32 additional scale points of anti-immigration sentiment in Liberal regimes</a:t>
            </a:r>
          </a:p>
          <a:p>
            <a:pPr algn="l">
              <a:spcBef>
                <a:spcPts val="600"/>
              </a:spcBef>
              <a:spcAft>
                <a:spcPts val="600"/>
              </a:spcAft>
            </a:pPr>
            <a:r>
              <a:rPr sz="1400">
                <a:solidFill>
                  <a:srgbClr val="1A1A1A"/>
                </a:solidFill>
                <a:latin typeface="Calibri"/>
              </a:rPr>
              <a:t>•  0.20 in Nordic regimes — gap is significant and substantively meaningful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Backup: Burgoon &amp; Schakel (2022)</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548640"/>
          </a:xfrm>
          <a:prstGeom prst="rect">
            <a:avLst/>
          </a:prstGeom>
          <a:noFill/>
        </p:spPr>
        <p:txBody>
          <a:bodyPr wrap="square">
            <a:spAutoFit/>
          </a:bodyPr>
          <a:lstStyle/>
          <a:p>
            <a:pPr algn="l"/>
            <a:r>
              <a:rPr sz="1800" b="1" i="0">
                <a:solidFill>
                  <a:srgbClr val="0B3D91"/>
                </a:solidFill>
                <a:latin typeface="Calibri"/>
              </a:rPr>
              <a:t>They find:</a:t>
            </a:r>
          </a:p>
        </p:txBody>
      </p:sp>
      <p:sp>
        <p:nvSpPr>
          <p:cNvPr id="5" name="TextBox 4"/>
          <p:cNvSpPr txBox="1"/>
          <p:nvPr/>
        </p:nvSpPr>
        <p:spPr>
          <a:xfrm>
            <a:off x="640080" y="1737360"/>
            <a:ext cx="10972800" cy="548640"/>
          </a:xfrm>
          <a:prstGeom prst="rect">
            <a:avLst/>
          </a:prstGeom>
          <a:noFill/>
        </p:spPr>
        <p:txBody>
          <a:bodyPr wrap="square">
            <a:spAutoFit/>
          </a:bodyPr>
          <a:lstStyle/>
          <a:p>
            <a:pPr algn="l"/>
            <a:r>
              <a:rPr sz="1600" b="0" i="0">
                <a:solidFill>
                  <a:srgbClr val="1A1A1A"/>
                </a:solidFill>
                <a:latin typeface="Calibri"/>
              </a:rPr>
              <a:t>welfare generosity dampens anti-globalisation nationalism in European party platforms.</a:t>
            </a:r>
          </a:p>
        </p:txBody>
      </p:sp>
      <p:sp>
        <p:nvSpPr>
          <p:cNvPr id="6" name="TextBox 5"/>
          <p:cNvSpPr txBox="1"/>
          <p:nvPr/>
        </p:nvSpPr>
        <p:spPr>
          <a:xfrm>
            <a:off x="640080" y="2651760"/>
            <a:ext cx="10972800" cy="548640"/>
          </a:xfrm>
          <a:prstGeom prst="rect">
            <a:avLst/>
          </a:prstGeom>
          <a:noFill/>
        </p:spPr>
        <p:txBody>
          <a:bodyPr wrap="square">
            <a:spAutoFit/>
          </a:bodyPr>
          <a:lstStyle/>
          <a:p>
            <a:pPr algn="l"/>
            <a:r>
              <a:rPr sz="1600" b="0" i="1">
                <a:solidFill>
                  <a:srgbClr val="1A1A1A"/>
                </a:solidFill>
                <a:latin typeface="Calibri"/>
              </a:rPr>
              <a:t>Apparent contradiction with my null on ALMP — resolved by unit of analysis:</a:t>
            </a:r>
          </a:p>
        </p:txBody>
      </p:sp>
      <p:sp>
        <p:nvSpPr>
          <p:cNvPr id="7" name="TextBox 6"/>
          <p:cNvSpPr txBox="1"/>
          <p:nvPr/>
        </p:nvSpPr>
        <p:spPr>
          <a:xfrm>
            <a:off x="640080" y="3291840"/>
            <a:ext cx="10972800" cy="1828800"/>
          </a:xfrm>
          <a:prstGeom prst="rect">
            <a:avLst/>
          </a:prstGeom>
          <a:noFill/>
        </p:spPr>
        <p:txBody>
          <a:bodyPr wrap="square">
            <a:spAutoFit/>
          </a:bodyPr>
          <a:lstStyle/>
          <a:p>
            <a:pPr algn="l">
              <a:spcBef>
                <a:spcPts val="600"/>
              </a:spcBef>
              <a:spcAft>
                <a:spcPts val="600"/>
              </a:spcAft>
            </a:pPr>
            <a:r>
              <a:rPr sz="1500">
                <a:solidFill>
                  <a:srgbClr val="1A1A1A"/>
                </a:solidFill>
                <a:latin typeface="Calibri"/>
              </a:rPr>
              <a:t>•  B&amp;S measure platform language at the PARTY level</a:t>
            </a:r>
          </a:p>
          <a:p>
            <a:pPr algn="l">
              <a:spcBef>
                <a:spcPts val="600"/>
              </a:spcBef>
              <a:spcAft>
                <a:spcPts val="600"/>
              </a:spcAft>
            </a:pPr>
            <a:r>
              <a:rPr sz="1500">
                <a:solidFill>
                  <a:srgbClr val="1A1A1A"/>
                </a:solidFill>
                <a:latin typeface="Calibri"/>
              </a:rPr>
              <a:t>•  I measure attitudinal slopes at the INDIVIDUAL level conditional on RTI exposure</a:t>
            </a:r>
          </a:p>
          <a:p>
            <a:pPr algn="l">
              <a:spcBef>
                <a:spcPts val="600"/>
              </a:spcBef>
              <a:spcAft>
                <a:spcPts val="600"/>
              </a:spcAft>
            </a:pPr>
            <a:r>
              <a:rPr sz="1500">
                <a:solidFill>
                  <a:srgbClr val="1A1A1A"/>
                </a:solidFill>
                <a:latin typeface="Calibri"/>
              </a:rPr>
              <a:t>•  Mechanisms differ: elite incentives + coalition arithmetic vs. institutional encounter + self-concept</a:t>
            </a:r>
          </a:p>
        </p:txBody>
      </p:sp>
      <p:sp>
        <p:nvSpPr>
          <p:cNvPr id="8" name="TextBox 7"/>
          <p:cNvSpPr txBox="1"/>
          <p:nvPr/>
        </p:nvSpPr>
        <p:spPr>
          <a:xfrm>
            <a:off x="640080" y="5120640"/>
            <a:ext cx="10972800" cy="457200"/>
          </a:xfrm>
          <a:prstGeom prst="rect">
            <a:avLst/>
          </a:prstGeom>
          <a:noFill/>
        </p:spPr>
        <p:txBody>
          <a:bodyPr wrap="square">
            <a:spAutoFit/>
          </a:bodyPr>
          <a:lstStyle/>
          <a:p>
            <a:pPr algn="l"/>
            <a:r>
              <a:rPr sz="1800" b="1" i="0">
                <a:solidFill>
                  <a:srgbClr val="0B3D91"/>
                </a:solidFill>
                <a:latin typeface="Calibri"/>
              </a:rPr>
              <a:t>Both can be true.</a:t>
            </a:r>
          </a:p>
        </p:txBody>
      </p:sp>
      <p:sp>
        <p:nvSpPr>
          <p:cNvPr id="9" name="TextBox 8"/>
          <p:cNvSpPr txBox="1"/>
          <p:nvPr/>
        </p:nvSpPr>
        <p:spPr>
          <a:xfrm>
            <a:off x="640080" y="5577840"/>
            <a:ext cx="10972800" cy="914400"/>
          </a:xfrm>
          <a:prstGeom prst="rect">
            <a:avLst/>
          </a:prstGeom>
          <a:noFill/>
        </p:spPr>
        <p:txBody>
          <a:bodyPr wrap="square">
            <a:spAutoFit/>
          </a:bodyPr>
          <a:lstStyle/>
          <a:p>
            <a:pPr algn="l"/>
            <a:r>
              <a:rPr sz="1400" b="0" i="0">
                <a:solidFill>
                  <a:srgbClr val="1A1A1A"/>
                </a:solidFill>
                <a:latin typeface="Calibri"/>
              </a:rPr>
              <a:t>Welfare generosity at scale may dampen the SUPPLY of anti-globalisation rhetoric in party systems while the DEMAND for exclusionary attitudes among vulnerable workers responds to a different welfare dimension entirely.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640080"/>
          </a:xfrm>
          <a:prstGeom prst="rect">
            <a:avLst/>
          </a:prstGeom>
          <a:noFill/>
        </p:spPr>
        <p:txBody>
          <a:bodyPr wrap="square">
            <a:spAutoFit/>
          </a:bodyPr>
          <a:lstStyle/>
          <a:p>
            <a:pPr algn="l"/>
            <a:r>
              <a:rPr sz="3000" b="1" i="0">
                <a:solidFill>
                  <a:srgbClr val="0B3D91"/>
                </a:solidFill>
                <a:latin typeface="Calibri"/>
              </a:rPr>
              <a:t>Backup: Denmark complication</a:t>
            </a:r>
          </a:p>
        </p:txBody>
      </p:sp>
      <p:sp>
        <p:nvSpPr>
          <p:cNvPr id="3" name="Rectangle 2"/>
          <p:cNvSpPr/>
          <p:nvPr/>
        </p:nvSpPr>
        <p:spPr>
          <a:xfrm>
            <a:off x="548640" y="914400"/>
            <a:ext cx="11064240" cy="36576"/>
          </a:xfrm>
          <a:prstGeom prst="rect">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640080"/>
          </a:xfrm>
          <a:prstGeom prst="rect">
            <a:avLst/>
          </a:prstGeom>
          <a:noFill/>
        </p:spPr>
        <p:txBody>
          <a:bodyPr wrap="square">
            <a:spAutoFit/>
          </a:bodyPr>
          <a:lstStyle/>
          <a:p>
            <a:pPr algn="l"/>
            <a:r>
              <a:rPr sz="1500" b="0" i="0">
                <a:solidFill>
                  <a:srgbClr val="1A1A1A"/>
                </a:solidFill>
                <a:latin typeface="Calibri"/>
              </a:rPr>
              <a:t>Despite high CWED generosity, Denmark shows steeper RTI → exclusion slope (β=0.50) than Finland, Sweden, or Norway.</a:t>
            </a:r>
          </a:p>
        </p:txBody>
      </p:sp>
      <p:sp>
        <p:nvSpPr>
          <p:cNvPr id="5" name="TextBox 4"/>
          <p:cNvSpPr txBox="1"/>
          <p:nvPr/>
        </p:nvSpPr>
        <p:spPr>
          <a:xfrm>
            <a:off x="640080" y="2194560"/>
            <a:ext cx="10972800" cy="548640"/>
          </a:xfrm>
          <a:prstGeom prst="rect">
            <a:avLst/>
          </a:prstGeom>
          <a:noFill/>
        </p:spPr>
        <p:txBody>
          <a:bodyPr wrap="square">
            <a:spAutoFit/>
          </a:bodyPr>
          <a:lstStyle/>
          <a:p>
            <a:pPr algn="l"/>
            <a:r>
              <a:rPr sz="2000" b="1" i="0">
                <a:solidFill>
                  <a:srgbClr val="0B3D91"/>
                </a:solidFill>
                <a:latin typeface="Calibri"/>
              </a:rPr>
              <a:t>Reading: not an anomaly. Confirmation.</a:t>
            </a:r>
          </a:p>
        </p:txBody>
      </p:sp>
      <p:sp>
        <p:nvSpPr>
          <p:cNvPr id="6" name="TextBox 5"/>
          <p:cNvSpPr txBox="1"/>
          <p:nvPr/>
        </p:nvSpPr>
        <p:spPr>
          <a:xfrm>
            <a:off x="640080" y="2834640"/>
            <a:ext cx="10972800" cy="640080"/>
          </a:xfrm>
          <a:prstGeom prst="rect">
            <a:avLst/>
          </a:prstGeom>
          <a:noFill/>
        </p:spPr>
        <p:txBody>
          <a:bodyPr wrap="square">
            <a:spAutoFit/>
          </a:bodyPr>
          <a:lstStyle/>
          <a:p>
            <a:pPr algn="l"/>
            <a:r>
              <a:rPr sz="1400" b="0" i="1">
                <a:solidFill>
                  <a:srgbClr val="1A1A1A"/>
                </a:solidFill>
                <a:latin typeface="Calibri"/>
              </a:rPr>
              <a:t>Danish 'flexicurity' combines generous benefits with high labour market flexibility and active job search requirements — generous in transfers but demanding in activation.</a:t>
            </a:r>
          </a:p>
        </p:txBody>
      </p:sp>
      <p:sp>
        <p:nvSpPr>
          <p:cNvPr id="7" name="TextBox 6"/>
          <p:cNvSpPr txBox="1"/>
          <p:nvPr/>
        </p:nvSpPr>
        <p:spPr>
          <a:xfrm>
            <a:off x="640080" y="3840480"/>
            <a:ext cx="10972800" cy="457200"/>
          </a:xfrm>
          <a:prstGeom prst="rect">
            <a:avLst/>
          </a:prstGeom>
          <a:noFill/>
        </p:spPr>
        <p:txBody>
          <a:bodyPr wrap="square">
            <a:spAutoFit/>
          </a:bodyPr>
          <a:lstStyle/>
          <a:p>
            <a:pPr algn="l"/>
            <a:r>
              <a:rPr sz="1600" b="1" i="0">
                <a:solidFill>
                  <a:srgbClr val="0B3D91"/>
                </a:solidFill>
                <a:latin typeface="Calibri"/>
              </a:rPr>
              <a:t>The asymmetric mechanism predicts:</a:t>
            </a:r>
          </a:p>
        </p:txBody>
      </p:sp>
      <p:sp>
        <p:nvSpPr>
          <p:cNvPr id="8" name="TextBox 7"/>
          <p:cNvSpPr txBox="1"/>
          <p:nvPr/>
        </p:nvSpPr>
        <p:spPr>
          <a:xfrm>
            <a:off x="640080" y="4297680"/>
            <a:ext cx="10972800" cy="1828800"/>
          </a:xfrm>
          <a:prstGeom prst="rect">
            <a:avLst/>
          </a:prstGeom>
          <a:noFill/>
        </p:spPr>
        <p:txBody>
          <a:bodyPr wrap="square">
            <a:spAutoFit/>
          </a:bodyPr>
          <a:lstStyle/>
          <a:p>
            <a:pPr algn="l">
              <a:spcBef>
                <a:spcPts val="600"/>
              </a:spcBef>
              <a:spcAft>
                <a:spcPts val="600"/>
              </a:spcAft>
            </a:pPr>
            <a:r>
              <a:rPr sz="1400">
                <a:solidFill>
                  <a:srgbClr val="1A1A1A"/>
                </a:solidFill>
                <a:latin typeface="Calibri"/>
              </a:rPr>
              <a:t>•  Conditionality and surveillance damage the self-concept EVEN WHEN transfer levels are high</a:t>
            </a:r>
          </a:p>
          <a:p>
            <a:pPr algn="l">
              <a:spcBef>
                <a:spcPts val="600"/>
              </a:spcBef>
              <a:spcAft>
                <a:spcPts val="600"/>
              </a:spcAft>
            </a:pPr>
            <a:r>
              <a:rPr sz="1400">
                <a:solidFill>
                  <a:srgbClr val="1A1A1A"/>
                </a:solidFill>
                <a:latin typeface="Calibri"/>
              </a:rPr>
              <a:t>•  Conditionality is what communicates suspicion, not (only) thinness of provision</a:t>
            </a:r>
          </a:p>
        </p:txBody>
      </p:sp>
      <p:sp>
        <p:nvSpPr>
          <p:cNvPr id="9" name="TextBox 8"/>
          <p:cNvSpPr txBox="1"/>
          <p:nvPr/>
        </p:nvSpPr>
        <p:spPr>
          <a:xfrm>
            <a:off x="640080" y="5943600"/>
            <a:ext cx="10972800" cy="365760"/>
          </a:xfrm>
          <a:prstGeom prst="rect">
            <a:avLst/>
          </a:prstGeom>
          <a:noFill/>
        </p:spPr>
        <p:txBody>
          <a:bodyPr wrap="square">
            <a:spAutoFit/>
          </a:bodyPr>
          <a:lstStyle/>
          <a:p>
            <a:pPr algn="l"/>
            <a:r>
              <a:rPr sz="1200" b="0" i="1">
                <a:solidFill>
                  <a:srgbClr val="6C757D"/>
                </a:solidFill>
                <a:latin typeface="Calibri"/>
              </a:rPr>
              <a:t>Robustness: country-level finding survives all single-country exclusions. r=−0.717 even with both highest-leverage observations dropped (p=0.006).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